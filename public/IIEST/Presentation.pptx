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Handy Casual" panose="020B0604020202020204" charset="0"/>
      <p:regular r:id="rId14"/>
    </p:embeddedFont>
    <p:embeddedFont>
      <p:font typeface="Handyman" panose="020B0604020202020204" charset="0"/>
      <p:regular r:id="rId15"/>
    </p:embeddedFont>
    <p:embeddedFont>
      <p:font typeface="Pompiere" panose="020B0604020202020204" charset="0"/>
      <p:regular r:id="rId16"/>
    </p:embeddedFont>
    <p:embeddedFont>
      <p:font typeface="TAN Headlin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6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7.svg"/><Relationship Id="rId7" Type="http://schemas.openxmlformats.org/officeDocument/2006/relationships/image" Target="../media/image8.sv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3.svg"/><Relationship Id="rId5" Type="http://schemas.openxmlformats.org/officeDocument/2006/relationships/image" Target="../media/image19.sv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svg"/><Relationship Id="rId7" Type="http://schemas.openxmlformats.org/officeDocument/2006/relationships/image" Target="../media/image29.svg"/><Relationship Id="rId12" Type="http://schemas.openxmlformats.org/officeDocument/2006/relationships/image" Target="../media/image34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1.svg"/><Relationship Id="rId10" Type="http://schemas.openxmlformats.org/officeDocument/2006/relationships/image" Target="../media/image32.png"/><Relationship Id="rId4" Type="http://schemas.openxmlformats.org/officeDocument/2006/relationships/image" Target="../media/image20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3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5.svg"/><Relationship Id="rId7" Type="http://schemas.openxmlformats.org/officeDocument/2006/relationships/image" Target="../media/image4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8.svg"/><Relationship Id="rId3" Type="http://schemas.microsoft.com/office/2007/relationships/media" Target="../media/media2.mp4"/><Relationship Id="rId7" Type="http://schemas.openxmlformats.org/officeDocument/2006/relationships/image" Target="../media/image46.svg"/><Relationship Id="rId12" Type="http://schemas.openxmlformats.org/officeDocument/2006/relationships/image" Target="../media/image47.png"/><Relationship Id="rId2" Type="http://schemas.microsoft.com/office/2007/relationships/media" Target="../media/media1.mp4"/><Relationship Id="rId16" Type="http://schemas.openxmlformats.org/officeDocument/2006/relationships/image" Target="../media/image51.png"/><Relationship Id="rId1" Type="http://schemas.openxmlformats.org/officeDocument/2006/relationships/video" Target="NULL" TargetMode="External"/><Relationship Id="rId6" Type="http://schemas.openxmlformats.org/officeDocument/2006/relationships/image" Target="../media/image45.png"/><Relationship Id="rId11" Type="http://schemas.openxmlformats.org/officeDocument/2006/relationships/image" Target="../media/image23.svg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0.jpeg"/><Relationship Id="rId10" Type="http://schemas.openxmlformats.org/officeDocument/2006/relationships/image" Target="../media/image22.png"/><Relationship Id="rId4" Type="http://schemas.openxmlformats.org/officeDocument/2006/relationships/video" Target="../media/media2.mp4"/><Relationship Id="rId9" Type="http://schemas.openxmlformats.org/officeDocument/2006/relationships/image" Target="../media/image21.svg"/><Relationship Id="rId14" Type="http://schemas.openxmlformats.org/officeDocument/2006/relationships/image" Target="../media/image4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7.svg"/><Relationship Id="rId3" Type="http://schemas.openxmlformats.org/officeDocument/2006/relationships/image" Target="../media/image57.svg"/><Relationship Id="rId7" Type="http://schemas.openxmlformats.org/officeDocument/2006/relationships/image" Target="../media/image4.svg"/><Relationship Id="rId12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59.svg"/><Relationship Id="rId10" Type="http://schemas.openxmlformats.org/officeDocument/2006/relationships/image" Target="../media/image9.png"/><Relationship Id="rId4" Type="http://schemas.openxmlformats.org/officeDocument/2006/relationships/image" Target="../media/image58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49474" y="8841822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702171" y="-151136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4"/>
                </a:lnTo>
                <a:lnTo>
                  <a:pt x="11546413" y="1595504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91669">
            <a:off x="1848572" y="1139489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8" y="0"/>
                </a:lnTo>
                <a:lnTo>
                  <a:pt x="1737858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146" y="2167187"/>
            <a:ext cx="1718477" cy="1966221"/>
          </a:xfrm>
          <a:custGeom>
            <a:avLst/>
            <a:gdLst/>
            <a:ahLst/>
            <a:cxnLst/>
            <a:rect l="l" t="t" r="r" b="b"/>
            <a:pathLst>
              <a:path w="1718477" h="1966221">
                <a:moveTo>
                  <a:pt x="0" y="0"/>
                </a:moveTo>
                <a:lnTo>
                  <a:pt x="1718478" y="0"/>
                </a:lnTo>
                <a:lnTo>
                  <a:pt x="1718478" y="1966221"/>
                </a:lnTo>
                <a:lnTo>
                  <a:pt x="0" y="19662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77992" y="2633120"/>
            <a:ext cx="9645470" cy="80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6071" spc="133">
                <a:solidFill>
                  <a:srgbClr val="F5B9BA"/>
                </a:solidFill>
                <a:latin typeface="Pompiere"/>
                <a:ea typeface="Pompiere"/>
                <a:cs typeface="Pompiere"/>
                <a:sym typeface="Pompiere"/>
              </a:rPr>
              <a:t> </a:t>
            </a:r>
            <a:r>
              <a:rPr lang="en-US" sz="6071" spc="133">
                <a:solidFill>
                  <a:srgbClr val="231F20"/>
                </a:solidFill>
                <a:latin typeface="Pompiere"/>
                <a:ea typeface="Pompiere"/>
                <a:cs typeface="Pompiere"/>
                <a:sym typeface="Pompiere"/>
              </a:rPr>
              <a:t>Presentation on</a:t>
            </a:r>
            <a:r>
              <a:rPr lang="en-US" sz="6071" spc="133">
                <a:solidFill>
                  <a:srgbClr val="F5B9BA"/>
                </a:solidFill>
                <a:latin typeface="Pompiere"/>
                <a:ea typeface="Pompiere"/>
                <a:cs typeface="Pompiere"/>
                <a:sym typeface="Pompiere"/>
              </a:rPr>
              <a:t> </a:t>
            </a:r>
          </a:p>
        </p:txBody>
      </p:sp>
      <p:sp>
        <p:nvSpPr>
          <p:cNvPr id="7" name="Freeform 7"/>
          <p:cNvSpPr/>
          <p:nvPr/>
        </p:nvSpPr>
        <p:spPr>
          <a:xfrm rot="-3119757" flipV="1">
            <a:off x="15695934" y="726216"/>
            <a:ext cx="3383132" cy="3585208"/>
          </a:xfrm>
          <a:custGeom>
            <a:avLst/>
            <a:gdLst/>
            <a:ahLst/>
            <a:cxnLst/>
            <a:rect l="l" t="t" r="r" b="b"/>
            <a:pathLst>
              <a:path w="3383132" h="3585208">
                <a:moveTo>
                  <a:pt x="0" y="3585208"/>
                </a:moveTo>
                <a:lnTo>
                  <a:pt x="3383132" y="3585208"/>
                </a:lnTo>
                <a:lnTo>
                  <a:pt x="3383132" y="0"/>
                </a:lnTo>
                <a:lnTo>
                  <a:pt x="0" y="0"/>
                </a:lnTo>
                <a:lnTo>
                  <a:pt x="0" y="358520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399026">
            <a:off x="9261910" y="88495"/>
            <a:ext cx="1719464" cy="2465181"/>
          </a:xfrm>
          <a:custGeom>
            <a:avLst/>
            <a:gdLst/>
            <a:ahLst/>
            <a:cxnLst/>
            <a:rect l="l" t="t" r="r" b="b"/>
            <a:pathLst>
              <a:path w="1719464" h="2465181">
                <a:moveTo>
                  <a:pt x="0" y="0"/>
                </a:moveTo>
                <a:lnTo>
                  <a:pt x="1719464" y="0"/>
                </a:lnTo>
                <a:lnTo>
                  <a:pt x="1719464" y="2465181"/>
                </a:lnTo>
                <a:lnTo>
                  <a:pt x="0" y="24651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076101" y="192609"/>
            <a:ext cx="969647" cy="1024098"/>
          </a:xfrm>
          <a:custGeom>
            <a:avLst/>
            <a:gdLst/>
            <a:ahLst/>
            <a:cxnLst/>
            <a:rect l="l" t="t" r="r" b="b"/>
            <a:pathLst>
              <a:path w="969647" h="1024098">
                <a:moveTo>
                  <a:pt x="0" y="0"/>
                </a:moveTo>
                <a:lnTo>
                  <a:pt x="969648" y="0"/>
                </a:lnTo>
                <a:lnTo>
                  <a:pt x="969648" y="1024098"/>
                </a:lnTo>
                <a:lnTo>
                  <a:pt x="0" y="10240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86212" y="239837"/>
            <a:ext cx="1027243" cy="1033623"/>
          </a:xfrm>
          <a:custGeom>
            <a:avLst/>
            <a:gdLst/>
            <a:ahLst/>
            <a:cxnLst/>
            <a:rect l="l" t="t" r="r" b="b"/>
            <a:pathLst>
              <a:path w="1027243" h="1033623">
                <a:moveTo>
                  <a:pt x="0" y="0"/>
                </a:moveTo>
                <a:lnTo>
                  <a:pt x="1027243" y="0"/>
                </a:lnTo>
                <a:lnTo>
                  <a:pt x="1027243" y="1033623"/>
                </a:lnTo>
                <a:lnTo>
                  <a:pt x="0" y="10336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00148" y="3414906"/>
            <a:ext cx="17287703" cy="312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962" spc="745" dirty="0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DESIGN AND ANALYSIS OF A</a:t>
            </a:r>
          </a:p>
          <a:p>
            <a:pPr algn="ctr">
              <a:lnSpc>
                <a:spcPts val="8530"/>
              </a:lnSpc>
            </a:pPr>
            <a:r>
              <a:rPr lang="en-US" sz="6462" spc="807" dirty="0">
                <a:solidFill>
                  <a:srgbClr val="FFDD98"/>
                </a:solidFill>
                <a:latin typeface="Pompiere"/>
                <a:ea typeface="Pompiere"/>
                <a:cs typeface="Pompiere"/>
                <a:sym typeface="Pompiere"/>
              </a:rPr>
              <a:t> </a:t>
            </a:r>
            <a:r>
              <a:rPr lang="en-US" sz="6462" spc="807" dirty="0">
                <a:solidFill>
                  <a:srgbClr val="FF3131"/>
                </a:solidFill>
                <a:latin typeface="Pompiere"/>
                <a:ea typeface="Pompiere"/>
                <a:cs typeface="Pompiere"/>
                <a:sym typeface="Pompiere"/>
              </a:rPr>
              <a:t>TOTAL OSSICULAR REPLACEMENT PROSTHESIS</a:t>
            </a:r>
            <a:r>
              <a:rPr lang="en-US" sz="6462" spc="807" dirty="0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 (TORP)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3756" y="9228128"/>
            <a:ext cx="4609501" cy="88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1778" spc="222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GUIDE: DR. APURBA DAS, IIEST SHIBPUR</a:t>
            </a:r>
          </a:p>
          <a:p>
            <a:pPr algn="ctr">
              <a:lnSpc>
                <a:spcPts val="2348"/>
              </a:lnSpc>
            </a:pPr>
            <a:r>
              <a:rPr lang="en-US" sz="1778" spc="222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DEPARTMENT OF MECHANICAL ENGINEERING, </a:t>
            </a:r>
          </a:p>
          <a:p>
            <a:pPr algn="ctr">
              <a:lnSpc>
                <a:spcPts val="2348"/>
              </a:lnSpc>
            </a:pPr>
            <a:endParaRPr lang="en-US" sz="1778" spc="222">
              <a:solidFill>
                <a:srgbClr val="000000"/>
              </a:solidFill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72891" y="6549930"/>
            <a:ext cx="7542217" cy="96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1"/>
              </a:lnSpc>
            </a:pPr>
            <a:r>
              <a:rPr lang="en-US" sz="2910" spc="363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BY: SANDEEP ROY, </a:t>
            </a:r>
          </a:p>
          <a:p>
            <a:pPr algn="ctr">
              <a:lnSpc>
                <a:spcPts val="3841"/>
              </a:lnSpc>
            </a:pPr>
            <a:r>
              <a:rPr lang="en-US" sz="2910" spc="363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ROLL NO. 230710102098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cmd cmd="playFrom(0.0)">
              <p:cBhvr>
                <p:cTn id="2"/>
                <p:tgtEl>
                  <p:spTgt spid="14"/>
                </p:tgtEl>
              </p:cBhvr>
            </p:cmd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9991" y="1943867"/>
            <a:ext cx="7347649" cy="7187337"/>
          </a:xfrm>
          <a:custGeom>
            <a:avLst/>
            <a:gdLst/>
            <a:ahLst/>
            <a:cxnLst/>
            <a:rect l="l" t="t" r="r" b="b"/>
            <a:pathLst>
              <a:path w="7347649" h="7187337">
                <a:moveTo>
                  <a:pt x="0" y="0"/>
                </a:moveTo>
                <a:lnTo>
                  <a:pt x="7347650" y="0"/>
                </a:lnTo>
                <a:lnTo>
                  <a:pt x="7347650" y="7187337"/>
                </a:lnTo>
                <a:lnTo>
                  <a:pt x="0" y="7187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80960" y="2494293"/>
            <a:ext cx="5172226" cy="4809867"/>
          </a:xfrm>
          <a:custGeom>
            <a:avLst/>
            <a:gdLst/>
            <a:ahLst/>
            <a:cxnLst/>
            <a:rect l="l" t="t" r="r" b="b"/>
            <a:pathLst>
              <a:path w="5172226" h="4809867">
                <a:moveTo>
                  <a:pt x="0" y="0"/>
                </a:moveTo>
                <a:lnTo>
                  <a:pt x="5172226" y="0"/>
                </a:lnTo>
                <a:lnTo>
                  <a:pt x="5172226" y="4809867"/>
                </a:lnTo>
                <a:lnTo>
                  <a:pt x="0" y="4809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906" r="-69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30266" y="453568"/>
            <a:ext cx="7627468" cy="11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  <a:spcBef>
                <a:spcPct val="0"/>
              </a:spcBef>
            </a:pPr>
            <a:r>
              <a:rPr lang="en-US" sz="746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11760" y="7923844"/>
            <a:ext cx="6247020" cy="106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“Why this matters: restoring hearing &amp; quality of life”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90124" y="2855036"/>
            <a:ext cx="8935220" cy="371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522" lvl="1" indent="-378261" algn="l">
              <a:lnSpc>
                <a:spcPts val="4204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Conductive hearing loss → caused by damaged ossicles</a:t>
            </a:r>
          </a:p>
          <a:p>
            <a:pPr marL="756522" lvl="1" indent="-378261" algn="l">
              <a:lnSpc>
                <a:spcPts val="4204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TORP → surgical implant to restore sound transmission</a:t>
            </a:r>
          </a:p>
          <a:p>
            <a:pPr marL="756522" lvl="1" indent="-378261" algn="l">
              <a:lnSpc>
                <a:spcPts val="4204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Requirements:</a:t>
            </a:r>
          </a:p>
          <a:p>
            <a:pPr algn="l">
              <a:lnSpc>
                <a:spcPts val="4204"/>
              </a:lnSpc>
            </a:pPr>
            <a:r>
              <a:rPr lang="en-US" sz="350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       1. Biocompatible material</a:t>
            </a:r>
          </a:p>
          <a:p>
            <a:pPr algn="l">
              <a:lnSpc>
                <a:spcPts val="4204"/>
              </a:lnSpc>
            </a:pPr>
            <a:r>
              <a:rPr lang="en-US" sz="350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       2. Strong yet lightweight</a:t>
            </a:r>
          </a:p>
          <a:p>
            <a:pPr algn="l">
              <a:lnSpc>
                <a:spcPts val="4204"/>
              </a:lnSpc>
            </a:pPr>
            <a:r>
              <a:rPr lang="en-US" sz="350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       3. No resonance in 100–6000 Hz range</a:t>
            </a:r>
          </a:p>
          <a:p>
            <a:pPr algn="l">
              <a:lnSpc>
                <a:spcPts val="4204"/>
              </a:lnSpc>
              <a:spcBef>
                <a:spcPct val="0"/>
              </a:spcBef>
            </a:pPr>
            <a:endParaRPr lang="en-US" sz="3504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7" name="Freeform 7"/>
          <p:cNvSpPr/>
          <p:nvPr/>
        </p:nvSpPr>
        <p:spPr>
          <a:xfrm rot="-3556088" flipV="1">
            <a:off x="15154953" y="6177736"/>
            <a:ext cx="3750634" cy="3974660"/>
          </a:xfrm>
          <a:custGeom>
            <a:avLst/>
            <a:gdLst/>
            <a:ahLst/>
            <a:cxnLst/>
            <a:rect l="l" t="t" r="r" b="b"/>
            <a:pathLst>
              <a:path w="3750634" h="3974660">
                <a:moveTo>
                  <a:pt x="0" y="3974660"/>
                </a:moveTo>
                <a:lnTo>
                  <a:pt x="3750634" y="3974660"/>
                </a:lnTo>
                <a:lnTo>
                  <a:pt x="3750634" y="0"/>
                </a:lnTo>
                <a:lnTo>
                  <a:pt x="0" y="0"/>
                </a:lnTo>
                <a:lnTo>
                  <a:pt x="0" y="39746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6288608" y="849567"/>
            <a:ext cx="6927975" cy="8739418"/>
          </a:xfrm>
          <a:custGeom>
            <a:avLst/>
            <a:gdLst/>
            <a:ahLst/>
            <a:cxnLst/>
            <a:rect l="l" t="t" r="r" b="b"/>
            <a:pathLst>
              <a:path w="6927975" h="8739418">
                <a:moveTo>
                  <a:pt x="0" y="0"/>
                </a:moveTo>
                <a:lnTo>
                  <a:pt x="6927974" y="0"/>
                </a:lnTo>
                <a:lnTo>
                  <a:pt x="6927974" y="8739418"/>
                </a:lnTo>
                <a:lnTo>
                  <a:pt x="0" y="873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38551" y="1000125"/>
            <a:ext cx="4584113" cy="3975676"/>
          </a:xfrm>
          <a:custGeom>
            <a:avLst/>
            <a:gdLst/>
            <a:ahLst/>
            <a:cxnLst/>
            <a:rect l="l" t="t" r="r" b="b"/>
            <a:pathLst>
              <a:path w="4584113" h="3975676">
                <a:moveTo>
                  <a:pt x="0" y="0"/>
                </a:moveTo>
                <a:lnTo>
                  <a:pt x="4584113" y="0"/>
                </a:lnTo>
                <a:lnTo>
                  <a:pt x="4584113" y="3975676"/>
                </a:lnTo>
                <a:lnTo>
                  <a:pt x="0" y="3975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810814">
            <a:off x="2206295" y="2517120"/>
            <a:ext cx="3989323" cy="1228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sz="4795" spc="10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52740" y="2444587"/>
            <a:ext cx="7406836" cy="578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4505" lvl="1" indent="-417253" algn="l">
              <a:lnSpc>
                <a:spcPts val="5140"/>
              </a:lnSpc>
              <a:buAutoNum type="arabicPeriod"/>
            </a:pPr>
            <a:r>
              <a:rPr lang="en-US" sz="3865" spc="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Build CAD model of TORP (Fusion 360)</a:t>
            </a:r>
          </a:p>
          <a:p>
            <a:pPr marL="834505" lvl="1" indent="-417253" algn="l">
              <a:lnSpc>
                <a:spcPts val="5140"/>
              </a:lnSpc>
              <a:buAutoNum type="arabicPeriod"/>
            </a:pPr>
            <a:r>
              <a:rPr lang="en-US" sz="3865" spc="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Select implant-grade material (Ti-6Al-4V)</a:t>
            </a:r>
          </a:p>
          <a:p>
            <a:pPr marL="834505" lvl="1" indent="-417253" algn="l">
              <a:lnSpc>
                <a:spcPts val="5140"/>
              </a:lnSpc>
              <a:buAutoNum type="arabicPeriod"/>
            </a:pPr>
            <a:r>
              <a:rPr lang="en-US" sz="3865" spc="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Perform static stress analysis under acoustic load</a:t>
            </a:r>
          </a:p>
          <a:p>
            <a:pPr marL="834505" lvl="1" indent="-417253" algn="l">
              <a:lnSpc>
                <a:spcPts val="5140"/>
              </a:lnSpc>
              <a:buAutoNum type="arabicPeriod"/>
            </a:pPr>
            <a:r>
              <a:rPr lang="en-US" sz="3865" spc="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Perform modal frequency analysis</a:t>
            </a:r>
          </a:p>
          <a:p>
            <a:pPr marL="834505" lvl="1" indent="-417253" algn="l">
              <a:lnSpc>
                <a:spcPts val="5140"/>
              </a:lnSpc>
              <a:buAutoNum type="arabicPeriod"/>
            </a:pPr>
            <a:r>
              <a:rPr lang="en-US" sz="3865" spc="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Evaluate mechanical safety &amp; reliability</a:t>
            </a:r>
          </a:p>
          <a:p>
            <a:pPr algn="l">
              <a:lnSpc>
                <a:spcPts val="5140"/>
              </a:lnSpc>
            </a:pPr>
            <a:endParaRPr lang="en-US" sz="3865" spc="85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6" name="Freeform 6"/>
          <p:cNvSpPr/>
          <p:nvPr/>
        </p:nvSpPr>
        <p:spPr>
          <a:xfrm rot="5856579" flipV="1">
            <a:off x="764579" y="5127721"/>
            <a:ext cx="3435988" cy="3641221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568932">
            <a:off x="15282144" y="5728523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190582">
            <a:off x="14034320" y="781506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94192" y="616033"/>
            <a:ext cx="769961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CAD Design</a:t>
            </a:r>
          </a:p>
        </p:txBody>
      </p:sp>
      <p:sp>
        <p:nvSpPr>
          <p:cNvPr id="3" name="Freeform 3"/>
          <p:cNvSpPr/>
          <p:nvPr/>
        </p:nvSpPr>
        <p:spPr>
          <a:xfrm>
            <a:off x="8553308" y="-17354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sp>
        <p:nvSpPr>
          <p:cNvPr id="5" name="Freeform 5"/>
          <p:cNvSpPr/>
          <p:nvPr/>
        </p:nvSpPr>
        <p:spPr>
          <a:xfrm rot="-1568932">
            <a:off x="382170" y="618396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94927" y="8229372"/>
            <a:ext cx="3539744" cy="3430333"/>
          </a:xfrm>
          <a:custGeom>
            <a:avLst/>
            <a:gdLst/>
            <a:ahLst/>
            <a:cxnLst/>
            <a:rect l="l" t="t" r="r" b="b"/>
            <a:pathLst>
              <a:path w="3539744" h="3430333">
                <a:moveTo>
                  <a:pt x="0" y="0"/>
                </a:moveTo>
                <a:lnTo>
                  <a:pt x="3539744" y="0"/>
                </a:lnTo>
                <a:lnTo>
                  <a:pt x="3539744" y="3430333"/>
                </a:lnTo>
                <a:lnTo>
                  <a:pt x="0" y="3430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40727">
            <a:off x="2264448" y="195420"/>
            <a:ext cx="1162426" cy="1666560"/>
          </a:xfrm>
          <a:custGeom>
            <a:avLst/>
            <a:gdLst/>
            <a:ahLst/>
            <a:cxnLst/>
            <a:rect l="l" t="t" r="r" b="b"/>
            <a:pathLst>
              <a:path w="1162426" h="1666560">
                <a:moveTo>
                  <a:pt x="0" y="0"/>
                </a:moveTo>
                <a:lnTo>
                  <a:pt x="1162426" y="0"/>
                </a:lnTo>
                <a:lnTo>
                  <a:pt x="1162426" y="1666560"/>
                </a:lnTo>
                <a:lnTo>
                  <a:pt x="0" y="166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653213" y="2106948"/>
            <a:ext cx="7959377" cy="4666185"/>
          </a:xfrm>
          <a:custGeom>
            <a:avLst/>
            <a:gdLst/>
            <a:ahLst/>
            <a:cxnLst/>
            <a:rect l="l" t="t" r="r" b="b"/>
            <a:pathLst>
              <a:path w="7959377" h="4666185">
                <a:moveTo>
                  <a:pt x="0" y="0"/>
                </a:moveTo>
                <a:lnTo>
                  <a:pt x="7959377" y="0"/>
                </a:lnTo>
                <a:lnTo>
                  <a:pt x="7959377" y="4666185"/>
                </a:lnTo>
                <a:lnTo>
                  <a:pt x="0" y="46661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172342" y="4517068"/>
            <a:ext cx="10257901" cy="6013694"/>
          </a:xfrm>
          <a:custGeom>
            <a:avLst/>
            <a:gdLst/>
            <a:ahLst/>
            <a:cxnLst/>
            <a:rect l="l" t="t" r="r" b="b"/>
            <a:pathLst>
              <a:path w="10257901" h="6013694">
                <a:moveTo>
                  <a:pt x="0" y="0"/>
                </a:moveTo>
                <a:lnTo>
                  <a:pt x="10257901" y="0"/>
                </a:lnTo>
                <a:lnTo>
                  <a:pt x="10257901" y="6013695"/>
                </a:lnTo>
                <a:lnTo>
                  <a:pt x="0" y="60136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602016" y="3855640"/>
            <a:ext cx="6750164" cy="3957284"/>
          </a:xfrm>
          <a:custGeom>
            <a:avLst/>
            <a:gdLst/>
            <a:ahLst/>
            <a:cxnLst/>
            <a:rect l="l" t="t" r="r" b="b"/>
            <a:pathLst>
              <a:path w="6750164" h="3957284">
                <a:moveTo>
                  <a:pt x="0" y="0"/>
                </a:moveTo>
                <a:lnTo>
                  <a:pt x="6750164" y="0"/>
                </a:lnTo>
                <a:lnTo>
                  <a:pt x="6750164" y="3957284"/>
                </a:lnTo>
                <a:lnTo>
                  <a:pt x="0" y="3957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7569097">
            <a:off x="5363431" y="7261396"/>
            <a:ext cx="919238" cy="525038"/>
          </a:xfrm>
          <a:custGeom>
            <a:avLst/>
            <a:gdLst/>
            <a:ahLst/>
            <a:cxnLst/>
            <a:rect l="l" t="t" r="r" b="b"/>
            <a:pathLst>
              <a:path w="919238" h="525038">
                <a:moveTo>
                  <a:pt x="0" y="0"/>
                </a:moveTo>
                <a:lnTo>
                  <a:pt x="919238" y="0"/>
                </a:lnTo>
                <a:lnTo>
                  <a:pt x="919238" y="525039"/>
                </a:lnTo>
                <a:lnTo>
                  <a:pt x="0" y="5250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89795">
            <a:off x="1124049" y="4177521"/>
            <a:ext cx="919238" cy="525038"/>
          </a:xfrm>
          <a:custGeom>
            <a:avLst/>
            <a:gdLst/>
            <a:ahLst/>
            <a:cxnLst/>
            <a:rect l="l" t="t" r="r" b="b"/>
            <a:pathLst>
              <a:path w="919238" h="525038">
                <a:moveTo>
                  <a:pt x="0" y="0"/>
                </a:moveTo>
                <a:lnTo>
                  <a:pt x="919238" y="0"/>
                </a:lnTo>
                <a:lnTo>
                  <a:pt x="919238" y="525039"/>
                </a:lnTo>
                <a:lnTo>
                  <a:pt x="0" y="5250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9326890" flipV="1">
            <a:off x="2496989" y="2274192"/>
            <a:ext cx="919238" cy="525038"/>
          </a:xfrm>
          <a:custGeom>
            <a:avLst/>
            <a:gdLst/>
            <a:ahLst/>
            <a:cxnLst/>
            <a:rect l="l" t="t" r="r" b="b"/>
            <a:pathLst>
              <a:path w="919238" h="525038">
                <a:moveTo>
                  <a:pt x="0" y="525038"/>
                </a:moveTo>
                <a:lnTo>
                  <a:pt x="919238" y="525038"/>
                </a:lnTo>
                <a:lnTo>
                  <a:pt x="919238" y="0"/>
                </a:lnTo>
                <a:lnTo>
                  <a:pt x="0" y="0"/>
                </a:lnTo>
                <a:lnTo>
                  <a:pt x="0" y="525038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25996" y="3283764"/>
            <a:ext cx="10379361" cy="424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2"/>
              </a:lnSpc>
            </a:pPr>
            <a:r>
              <a:rPr lang="en-US" sz="2642" spc="11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 </a:t>
            </a:r>
            <a:r>
              <a:rPr lang="en-US" sz="2642" spc="110">
                <a:solidFill>
                  <a:srgbClr val="FF3131"/>
                </a:solidFill>
                <a:latin typeface="TAN Headline"/>
                <a:ea typeface="TAN Headline"/>
                <a:cs typeface="TAN Headline"/>
                <a:sym typeface="TAN Headline"/>
              </a:rPr>
              <a:t>MAIN PARTS:</a:t>
            </a:r>
          </a:p>
          <a:p>
            <a:pPr algn="just">
              <a:lnSpc>
                <a:spcPts val="3382"/>
              </a:lnSpc>
            </a:pPr>
            <a:endParaRPr lang="en-US" sz="2642" spc="110">
              <a:solidFill>
                <a:srgbClr val="FF3131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marL="570559" lvl="1" indent="-285279" algn="just">
              <a:lnSpc>
                <a:spcPts val="4492"/>
              </a:lnSpc>
              <a:buAutoNum type="arabicPeriod"/>
            </a:pPr>
            <a:r>
              <a:rPr lang="en-US" sz="2642" spc="11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Footplate – stable contact with stapes</a:t>
            </a:r>
          </a:p>
          <a:p>
            <a:pPr algn="just">
              <a:lnSpc>
                <a:spcPts val="4492"/>
              </a:lnSpc>
            </a:pPr>
            <a:r>
              <a:rPr lang="en-US" sz="2642" spc="11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 2. Shaft – connects base to head</a:t>
            </a:r>
          </a:p>
          <a:p>
            <a:pPr algn="just">
              <a:lnSpc>
                <a:spcPts val="4492"/>
              </a:lnSpc>
            </a:pPr>
            <a:r>
              <a:rPr lang="en-US" sz="2642" spc="11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 3. Head – contact with the tympanic membrane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endParaRPr lang="en-US" sz="2642" spc="11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642" spc="11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Key Features: Compact | Lightweight | Smooth    transitions | Manufacturable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endParaRPr lang="en-US" sz="2642" spc="11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06130" y="7628713"/>
            <a:ext cx="1959240" cy="42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2600" spc="109">
                <a:solidFill>
                  <a:srgbClr val="004AAD"/>
                </a:solidFill>
                <a:latin typeface="TAN Headline"/>
                <a:ea typeface="TAN Headline"/>
                <a:cs typeface="TAN Headline"/>
                <a:sym typeface="TAN Headline"/>
              </a:rPr>
              <a:t>Footplate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52850" y="2545281"/>
            <a:ext cx="1003928" cy="42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2600" spc="109">
                <a:solidFill>
                  <a:srgbClr val="EB04A3"/>
                </a:solidFill>
                <a:latin typeface="TAN Headline"/>
                <a:ea typeface="TAN Headline"/>
                <a:cs typeface="TAN Headline"/>
                <a:sym typeface="TAN Headline"/>
              </a:rPr>
              <a:t>Head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2491" y="4918616"/>
            <a:ext cx="1103974" cy="42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2600" spc="109">
                <a:solidFill>
                  <a:srgbClr val="B18DFF"/>
                </a:solidFill>
                <a:latin typeface="TAN Headline"/>
                <a:ea typeface="TAN Headline"/>
                <a:cs typeface="TAN Headline"/>
                <a:sym typeface="TAN Headline"/>
              </a:rPr>
              <a:t>Shaft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22617">
            <a:off x="8577865" y="3047679"/>
            <a:ext cx="1437070" cy="1309040"/>
          </a:xfrm>
          <a:custGeom>
            <a:avLst/>
            <a:gdLst/>
            <a:ahLst/>
            <a:cxnLst/>
            <a:rect l="l" t="t" r="r" b="b"/>
            <a:pathLst>
              <a:path w="1437070" h="1309040">
                <a:moveTo>
                  <a:pt x="0" y="0"/>
                </a:moveTo>
                <a:lnTo>
                  <a:pt x="1437070" y="0"/>
                </a:lnTo>
                <a:lnTo>
                  <a:pt x="1437070" y="1309040"/>
                </a:lnTo>
                <a:lnTo>
                  <a:pt x="0" y="130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70916" y="5432917"/>
            <a:ext cx="5504630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</a:pPr>
            <a:r>
              <a:rPr lang="en-US" sz="5250" spc="11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Ti-6Al-4V Alloy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964208" y="2864905"/>
            <a:ext cx="3705330" cy="976981"/>
            <a:chOff x="0" y="0"/>
            <a:chExt cx="1066981" cy="281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981" cy="281330"/>
            </a:xfrm>
            <a:custGeom>
              <a:avLst/>
              <a:gdLst/>
              <a:ahLst/>
              <a:cxnLst/>
              <a:rect l="l" t="t" r="r" b="b"/>
              <a:pathLst>
                <a:path w="1066981" h="281330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300862"/>
            <a:ext cx="3740501" cy="911138"/>
            <a:chOff x="0" y="0"/>
            <a:chExt cx="1077109" cy="2623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7109" cy="262370"/>
            </a:xfrm>
            <a:custGeom>
              <a:avLst/>
              <a:gdLst/>
              <a:ahLst/>
              <a:cxnLst/>
              <a:rect l="l" t="t" r="r" b="b"/>
              <a:pathLst>
                <a:path w="1077109" h="262370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226150" y="7656940"/>
            <a:ext cx="3705330" cy="956919"/>
            <a:chOff x="0" y="0"/>
            <a:chExt cx="1066981" cy="2755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981" cy="275553"/>
            </a:xfrm>
            <a:custGeom>
              <a:avLst/>
              <a:gdLst/>
              <a:ahLst/>
              <a:cxnLst/>
              <a:rect l="l" t="t" r="r" b="b"/>
              <a:pathLst>
                <a:path w="1066981" h="275553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0807" y="2864905"/>
            <a:ext cx="3740501" cy="911138"/>
            <a:chOff x="0" y="0"/>
            <a:chExt cx="1077109" cy="2623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7109" cy="262370"/>
            </a:xfrm>
            <a:custGeom>
              <a:avLst/>
              <a:gdLst/>
              <a:ahLst/>
              <a:cxnLst/>
              <a:rect l="l" t="t" r="r" b="b"/>
              <a:pathLst>
                <a:path w="1077109" h="262370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553970" y="5291337"/>
            <a:ext cx="3705330" cy="956919"/>
            <a:chOff x="0" y="0"/>
            <a:chExt cx="1066981" cy="2755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6981" cy="275553"/>
            </a:xfrm>
            <a:custGeom>
              <a:avLst/>
              <a:gdLst/>
              <a:ahLst/>
              <a:cxnLst/>
              <a:rect l="l" t="t" r="r" b="b"/>
              <a:pathLst>
                <a:path w="1066981" h="275553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12701" y="7656940"/>
            <a:ext cx="3705330" cy="976981"/>
            <a:chOff x="0" y="0"/>
            <a:chExt cx="1066981" cy="2813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6981" cy="281330"/>
            </a:xfrm>
            <a:custGeom>
              <a:avLst/>
              <a:gdLst/>
              <a:ahLst/>
              <a:cxnLst/>
              <a:rect l="l" t="t" r="r" b="b"/>
              <a:pathLst>
                <a:path w="1066981" h="281330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643804">
            <a:off x="10477014" y="3866822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54782" y="5493047"/>
            <a:ext cx="3088337" cy="63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Corrosion Resistant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72705" y="3044341"/>
            <a:ext cx="3088337" cy="63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High strength-to-weight ratio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34647" y="8010292"/>
            <a:ext cx="3088337" cy="329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Biocompatible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62467" y="5340664"/>
            <a:ext cx="3088337" cy="93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Excellent Fatigue &amp; Wear Resistance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10847" y="3196708"/>
            <a:ext cx="3088337" cy="329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High Stiffness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21257" y="7889220"/>
            <a:ext cx="3088337" cy="63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MRI-Compatible &amp; Non-Magnetic</a:t>
            </a:r>
          </a:p>
        </p:txBody>
      </p:sp>
      <p:sp>
        <p:nvSpPr>
          <p:cNvPr id="29" name="Freeform 29"/>
          <p:cNvSpPr/>
          <p:nvPr/>
        </p:nvSpPr>
        <p:spPr>
          <a:xfrm rot="204962">
            <a:off x="11333721" y="5450523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/>
            </a:stretch>
          </a:blipFill>
        </p:spPr>
      </p:sp>
      <p:sp>
        <p:nvSpPr>
          <p:cNvPr id="30" name="Freeform 30"/>
          <p:cNvSpPr/>
          <p:nvPr/>
        </p:nvSpPr>
        <p:spPr>
          <a:xfrm rot="1543996">
            <a:off x="10606292" y="7465148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/>
            </a:stretch>
          </a:blipFill>
        </p:spPr>
      </p:sp>
      <p:sp>
        <p:nvSpPr>
          <p:cNvPr id="31" name="Freeform 31"/>
          <p:cNvSpPr/>
          <p:nvPr/>
        </p:nvSpPr>
        <p:spPr>
          <a:xfrm rot="-8767587">
            <a:off x="5953077" y="3983769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/>
            </a:stretch>
          </a:blipFill>
        </p:spPr>
      </p:sp>
      <p:sp>
        <p:nvSpPr>
          <p:cNvPr id="32" name="Freeform 32"/>
          <p:cNvSpPr/>
          <p:nvPr/>
        </p:nvSpPr>
        <p:spPr>
          <a:xfrm rot="-10366412">
            <a:off x="4870860" y="5715044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/>
            </a:stretch>
          </a:blipFill>
        </p:spPr>
      </p:sp>
      <p:sp>
        <p:nvSpPr>
          <p:cNvPr id="33" name="Freeform 33"/>
          <p:cNvSpPr/>
          <p:nvPr/>
        </p:nvSpPr>
        <p:spPr>
          <a:xfrm rot="9139054">
            <a:off x="5920775" y="7465148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/>
            </a:stretch>
          </a:blipFill>
        </p:spPr>
      </p:sp>
      <p:sp>
        <p:nvSpPr>
          <p:cNvPr id="34" name="Freeform 34"/>
          <p:cNvSpPr/>
          <p:nvPr/>
        </p:nvSpPr>
        <p:spPr>
          <a:xfrm rot="-8261386">
            <a:off x="8703556" y="7358919"/>
            <a:ext cx="1437070" cy="1309040"/>
          </a:xfrm>
          <a:custGeom>
            <a:avLst/>
            <a:gdLst/>
            <a:ahLst/>
            <a:cxnLst/>
            <a:rect l="l" t="t" r="r" b="b"/>
            <a:pathLst>
              <a:path w="1437070" h="1309040">
                <a:moveTo>
                  <a:pt x="0" y="0"/>
                </a:moveTo>
                <a:lnTo>
                  <a:pt x="1437070" y="0"/>
                </a:lnTo>
                <a:lnTo>
                  <a:pt x="1437070" y="1309041"/>
                </a:lnTo>
                <a:lnTo>
                  <a:pt x="0" y="1309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3586046" y="571060"/>
            <a:ext cx="12400194" cy="1209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7500" spc="31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Material Selection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5574902" y="1689812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flipH="1">
            <a:off x="-4247467" y="-461058"/>
            <a:ext cx="13290330" cy="1836482"/>
          </a:xfrm>
          <a:custGeom>
            <a:avLst/>
            <a:gdLst/>
            <a:ahLst/>
            <a:cxnLst/>
            <a:rect l="l" t="t" r="r" b="b"/>
            <a:pathLst>
              <a:path w="13290330" h="1836482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V="1">
            <a:off x="9786143" y="8719645"/>
            <a:ext cx="13290330" cy="1836482"/>
          </a:xfrm>
          <a:custGeom>
            <a:avLst/>
            <a:gdLst/>
            <a:ahLst/>
            <a:cxnLst/>
            <a:rect l="l" t="t" r="r" b="b"/>
            <a:pathLst>
              <a:path w="13290330" h="1836482">
                <a:moveTo>
                  <a:pt x="0" y="1836482"/>
                </a:moveTo>
                <a:lnTo>
                  <a:pt x="13290330" y="1836482"/>
                </a:lnTo>
                <a:lnTo>
                  <a:pt x="13290330" y="0"/>
                </a:lnTo>
                <a:lnTo>
                  <a:pt x="0" y="0"/>
                </a:lnTo>
                <a:lnTo>
                  <a:pt x="0" y="183648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8457407" y="884047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5213535" y="-262010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2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2" y="1800855"/>
                </a:lnTo>
                <a:lnTo>
                  <a:pt x="130325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508112">
            <a:off x="-1532431" y="545039"/>
            <a:ext cx="2513769" cy="4114800"/>
          </a:xfrm>
          <a:custGeom>
            <a:avLst/>
            <a:gdLst/>
            <a:ahLst/>
            <a:cxnLst/>
            <a:rect l="l" t="t" r="r" b="b"/>
            <a:pathLst>
              <a:path w="2513769" h="4114800">
                <a:moveTo>
                  <a:pt x="0" y="0"/>
                </a:moveTo>
                <a:lnTo>
                  <a:pt x="2513769" y="0"/>
                </a:lnTo>
                <a:lnTo>
                  <a:pt x="2513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077489" y="2497189"/>
            <a:ext cx="6001239" cy="911138"/>
            <a:chOff x="0" y="0"/>
            <a:chExt cx="1728108" cy="2623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8108" cy="262370"/>
            </a:xfrm>
            <a:custGeom>
              <a:avLst/>
              <a:gdLst/>
              <a:ahLst/>
              <a:cxnLst/>
              <a:rect l="l" t="t" r="r" b="b"/>
              <a:pathLst>
                <a:path w="1728108" h="262370">
                  <a:moveTo>
                    <a:pt x="46442" y="0"/>
                  </a:moveTo>
                  <a:lnTo>
                    <a:pt x="1681666" y="0"/>
                  </a:lnTo>
                  <a:cubicBezTo>
                    <a:pt x="1693983" y="0"/>
                    <a:pt x="1705796" y="4893"/>
                    <a:pt x="1714505" y="13603"/>
                  </a:cubicBezTo>
                  <a:cubicBezTo>
                    <a:pt x="1723215" y="22312"/>
                    <a:pt x="1728108" y="34125"/>
                    <a:pt x="1728108" y="46442"/>
                  </a:cubicBezTo>
                  <a:lnTo>
                    <a:pt x="1728108" y="215928"/>
                  </a:lnTo>
                  <a:cubicBezTo>
                    <a:pt x="1728108" y="228245"/>
                    <a:pt x="1723215" y="240058"/>
                    <a:pt x="1714505" y="248767"/>
                  </a:cubicBezTo>
                  <a:cubicBezTo>
                    <a:pt x="1705796" y="257477"/>
                    <a:pt x="1693983" y="262370"/>
                    <a:pt x="1681666" y="262370"/>
                  </a:cubicBezTo>
                  <a:lnTo>
                    <a:pt x="46442" y="262370"/>
                  </a:lnTo>
                  <a:cubicBezTo>
                    <a:pt x="34125" y="262370"/>
                    <a:pt x="22312" y="257477"/>
                    <a:pt x="13603" y="248767"/>
                  </a:cubicBezTo>
                  <a:cubicBezTo>
                    <a:pt x="4893" y="240058"/>
                    <a:pt x="0" y="228245"/>
                    <a:pt x="0" y="215928"/>
                  </a:cubicBezTo>
                  <a:lnTo>
                    <a:pt x="0" y="46442"/>
                  </a:lnTo>
                  <a:cubicBezTo>
                    <a:pt x="0" y="34125"/>
                    <a:pt x="4893" y="22312"/>
                    <a:pt x="13603" y="13603"/>
                  </a:cubicBezTo>
                  <a:cubicBezTo>
                    <a:pt x="22312" y="4893"/>
                    <a:pt x="34125" y="0"/>
                    <a:pt x="464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728108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10417" y="2497189"/>
            <a:ext cx="4778822" cy="911138"/>
            <a:chOff x="0" y="0"/>
            <a:chExt cx="1376102" cy="2623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6102" cy="262370"/>
            </a:xfrm>
            <a:custGeom>
              <a:avLst/>
              <a:gdLst/>
              <a:ahLst/>
              <a:cxnLst/>
              <a:rect l="l" t="t" r="r" b="b"/>
              <a:pathLst>
                <a:path w="1376102" h="262370">
                  <a:moveTo>
                    <a:pt x="58322" y="0"/>
                  </a:moveTo>
                  <a:lnTo>
                    <a:pt x="1317781" y="0"/>
                  </a:lnTo>
                  <a:cubicBezTo>
                    <a:pt x="1333248" y="0"/>
                    <a:pt x="1348083" y="6145"/>
                    <a:pt x="1359020" y="17082"/>
                  </a:cubicBezTo>
                  <a:cubicBezTo>
                    <a:pt x="1369958" y="28019"/>
                    <a:pt x="1376102" y="42854"/>
                    <a:pt x="1376102" y="58322"/>
                  </a:cubicBezTo>
                  <a:lnTo>
                    <a:pt x="1376102" y="204048"/>
                  </a:lnTo>
                  <a:cubicBezTo>
                    <a:pt x="1376102" y="236258"/>
                    <a:pt x="1349991" y="262370"/>
                    <a:pt x="1317781" y="262370"/>
                  </a:cubicBezTo>
                  <a:lnTo>
                    <a:pt x="58322" y="262370"/>
                  </a:lnTo>
                  <a:cubicBezTo>
                    <a:pt x="26112" y="262370"/>
                    <a:pt x="0" y="236258"/>
                    <a:pt x="0" y="204048"/>
                  </a:cubicBezTo>
                  <a:lnTo>
                    <a:pt x="0" y="58322"/>
                  </a:lnTo>
                  <a:cubicBezTo>
                    <a:pt x="0" y="26112"/>
                    <a:pt x="26112" y="0"/>
                    <a:pt x="5832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376102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331109" y="5191125"/>
            <a:ext cx="3225215" cy="2962749"/>
          </a:xfrm>
          <a:custGeom>
            <a:avLst/>
            <a:gdLst/>
            <a:ahLst/>
            <a:cxnLst/>
            <a:rect l="l" t="t" r="r" b="b"/>
            <a:pathLst>
              <a:path w="3225215" h="2962749">
                <a:moveTo>
                  <a:pt x="0" y="0"/>
                </a:moveTo>
                <a:lnTo>
                  <a:pt x="3225214" y="0"/>
                </a:lnTo>
                <a:lnTo>
                  <a:pt x="3225214" y="2962749"/>
                </a:lnTo>
                <a:lnTo>
                  <a:pt x="0" y="2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322" t="-13192" r="-2020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880031" y="5172075"/>
            <a:ext cx="3002916" cy="2962749"/>
          </a:xfrm>
          <a:custGeom>
            <a:avLst/>
            <a:gdLst/>
            <a:ahLst/>
            <a:cxnLst/>
            <a:rect l="l" t="t" r="r" b="b"/>
            <a:pathLst>
              <a:path w="3002916" h="2962749">
                <a:moveTo>
                  <a:pt x="0" y="0"/>
                </a:moveTo>
                <a:lnTo>
                  <a:pt x="3002916" y="0"/>
                </a:lnTo>
                <a:lnTo>
                  <a:pt x="3002916" y="2962749"/>
                </a:lnTo>
                <a:lnTo>
                  <a:pt x="0" y="2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980" t="-24569" r="-4679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98760" y="-504615"/>
            <a:ext cx="15146239" cy="2428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endParaRPr dirty="0"/>
          </a:p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7500" spc="31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Simulation Methodology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20339" y="2726570"/>
            <a:ext cx="6146091" cy="54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500" spc="147">
                <a:solidFill>
                  <a:srgbClr val="FFFEF7"/>
                </a:solidFill>
                <a:latin typeface="TAN Headline"/>
                <a:ea typeface="TAN Headline"/>
                <a:cs typeface="TAN Headline"/>
                <a:sym typeface="TAN Headline"/>
              </a:rPr>
              <a:t>Static Stress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27336" y="2726570"/>
            <a:ext cx="4174664" cy="555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500" spc="147" dirty="0">
                <a:solidFill>
                  <a:srgbClr val="FFFEF7"/>
                </a:solidFill>
                <a:latin typeface="TAN Headline"/>
                <a:ea typeface="TAN Headline"/>
                <a:cs typeface="TAN Headline"/>
                <a:sym typeface="TAN Headline"/>
              </a:rPr>
              <a:t>Modal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10056" y="3517044"/>
            <a:ext cx="5867889" cy="177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6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Load = 5.0 × 10⁻⁵ N</a:t>
            </a:r>
          </a:p>
          <a:p>
            <a:pPr algn="just">
              <a:lnSpc>
                <a:spcPts val="3588"/>
              </a:lnSpc>
            </a:pPr>
            <a:r>
              <a:rPr lang="en-US" sz="26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Pressure = 1.0 × 10⁻⁶ MPa</a:t>
            </a:r>
          </a:p>
          <a:p>
            <a:pPr algn="just">
              <a:lnSpc>
                <a:spcPts val="3588"/>
              </a:lnSpc>
            </a:pPr>
            <a:r>
              <a:rPr lang="en-US" sz="26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Footplate fixed</a:t>
            </a:r>
          </a:p>
          <a:p>
            <a:pPr algn="just">
              <a:lnSpc>
                <a:spcPts val="3588"/>
              </a:lnSpc>
            </a:pPr>
            <a:endParaRPr lang="en-US" sz="26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64130" y="3450369"/>
            <a:ext cx="5402132" cy="210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600" spc="10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8 eigenmodes</a:t>
            </a:r>
          </a:p>
          <a:p>
            <a:pPr algn="l">
              <a:lnSpc>
                <a:spcPts val="4212"/>
              </a:lnSpc>
            </a:pPr>
            <a:r>
              <a:rPr lang="en-US" sz="2600" spc="10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Goal: Avoid resonance in 100–6000 Hz</a:t>
            </a:r>
          </a:p>
          <a:p>
            <a:pPr algn="l">
              <a:lnSpc>
                <a:spcPts val="4212"/>
              </a:lnSpc>
            </a:pPr>
            <a:endParaRPr lang="en-US" sz="2600" spc="109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438029" y="6549484"/>
            <a:ext cx="10893080" cy="2650423"/>
            <a:chOff x="0" y="0"/>
            <a:chExt cx="14524107" cy="3533897"/>
          </a:xfrm>
        </p:grpSpPr>
        <p:grpSp>
          <p:nvGrpSpPr>
            <p:cNvPr id="19" name="Group 19"/>
            <p:cNvGrpSpPr/>
            <p:nvPr/>
          </p:nvGrpSpPr>
          <p:grpSpPr>
            <a:xfrm>
              <a:off x="228239" y="0"/>
              <a:ext cx="4126164" cy="1037094"/>
              <a:chOff x="0" y="0"/>
              <a:chExt cx="891123" cy="22398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91123" cy="223980"/>
              </a:xfrm>
              <a:custGeom>
                <a:avLst/>
                <a:gdLst/>
                <a:ahLst/>
                <a:cxnLst/>
                <a:rect l="l" t="t" r="r" b="b"/>
                <a:pathLst>
                  <a:path w="891123" h="223980">
                    <a:moveTo>
                      <a:pt x="90062" y="0"/>
                    </a:moveTo>
                    <a:lnTo>
                      <a:pt x="801061" y="0"/>
                    </a:lnTo>
                    <a:cubicBezTo>
                      <a:pt x="850801" y="0"/>
                      <a:pt x="891123" y="40322"/>
                      <a:pt x="891123" y="90062"/>
                    </a:cubicBezTo>
                    <a:lnTo>
                      <a:pt x="891123" y="133918"/>
                    </a:lnTo>
                    <a:cubicBezTo>
                      <a:pt x="891123" y="157804"/>
                      <a:pt x="881634" y="180711"/>
                      <a:pt x="864744" y="197601"/>
                    </a:cubicBezTo>
                    <a:cubicBezTo>
                      <a:pt x="847854" y="214491"/>
                      <a:pt x="824947" y="223980"/>
                      <a:pt x="801061" y="223980"/>
                    </a:cubicBezTo>
                    <a:lnTo>
                      <a:pt x="90062" y="223980"/>
                    </a:lnTo>
                    <a:cubicBezTo>
                      <a:pt x="66176" y="223980"/>
                      <a:pt x="43269" y="214491"/>
                      <a:pt x="26379" y="197601"/>
                    </a:cubicBezTo>
                    <a:cubicBezTo>
                      <a:pt x="9489" y="180711"/>
                      <a:pt x="0" y="157804"/>
                      <a:pt x="0" y="133918"/>
                    </a:cubicBezTo>
                    <a:lnTo>
                      <a:pt x="0" y="90062"/>
                    </a:lnTo>
                    <a:cubicBezTo>
                      <a:pt x="0" y="66176"/>
                      <a:pt x="9489" y="43269"/>
                      <a:pt x="26379" y="26379"/>
                    </a:cubicBezTo>
                    <a:cubicBezTo>
                      <a:pt x="43269" y="9489"/>
                      <a:pt x="66176" y="0"/>
                      <a:pt x="90062" y="0"/>
                    </a:cubicBezTo>
                    <a:close/>
                  </a:path>
                </a:pathLst>
              </a:custGeom>
              <a:solidFill>
                <a:srgbClr val="FBC046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891123" cy="19540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598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862348" y="1991541"/>
              <a:ext cx="4126164" cy="1109881"/>
              <a:chOff x="0" y="0"/>
              <a:chExt cx="891123" cy="2397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91123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891123" h="239700">
                    <a:moveTo>
                      <a:pt x="90062" y="0"/>
                    </a:moveTo>
                    <a:lnTo>
                      <a:pt x="801061" y="0"/>
                    </a:lnTo>
                    <a:cubicBezTo>
                      <a:pt x="850801" y="0"/>
                      <a:pt x="891123" y="40322"/>
                      <a:pt x="891123" y="90062"/>
                    </a:cubicBezTo>
                    <a:lnTo>
                      <a:pt x="891123" y="149637"/>
                    </a:lnTo>
                    <a:cubicBezTo>
                      <a:pt x="891123" y="173523"/>
                      <a:pt x="881634" y="196431"/>
                      <a:pt x="864744" y="213321"/>
                    </a:cubicBezTo>
                    <a:cubicBezTo>
                      <a:pt x="847854" y="230211"/>
                      <a:pt x="824947" y="239700"/>
                      <a:pt x="801061" y="239700"/>
                    </a:cubicBezTo>
                    <a:lnTo>
                      <a:pt x="90062" y="239700"/>
                    </a:lnTo>
                    <a:cubicBezTo>
                      <a:pt x="66176" y="239700"/>
                      <a:pt x="43269" y="230211"/>
                      <a:pt x="26379" y="213321"/>
                    </a:cubicBezTo>
                    <a:cubicBezTo>
                      <a:pt x="9489" y="196431"/>
                      <a:pt x="0" y="173523"/>
                      <a:pt x="0" y="149637"/>
                    </a:cubicBezTo>
                    <a:lnTo>
                      <a:pt x="0" y="90062"/>
                    </a:lnTo>
                    <a:cubicBezTo>
                      <a:pt x="0" y="66176"/>
                      <a:pt x="9489" y="43269"/>
                      <a:pt x="26379" y="26379"/>
                    </a:cubicBezTo>
                    <a:cubicBezTo>
                      <a:pt x="43269" y="9489"/>
                      <a:pt x="66176" y="0"/>
                      <a:pt x="90062" y="0"/>
                    </a:cubicBezTo>
                    <a:close/>
                  </a:path>
                </a:pathLst>
              </a:custGeom>
              <a:solidFill>
                <a:srgbClr val="E56363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28575"/>
                <a:ext cx="891123" cy="21112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598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113404" y="307602"/>
              <a:ext cx="4126164" cy="956083"/>
              <a:chOff x="0" y="0"/>
              <a:chExt cx="891123" cy="20648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91123" cy="206484"/>
              </a:xfrm>
              <a:custGeom>
                <a:avLst/>
                <a:gdLst/>
                <a:ahLst/>
                <a:cxnLst/>
                <a:rect l="l" t="t" r="r" b="b"/>
                <a:pathLst>
                  <a:path w="891123" h="206484">
                    <a:moveTo>
                      <a:pt x="90062" y="0"/>
                    </a:moveTo>
                    <a:lnTo>
                      <a:pt x="801061" y="0"/>
                    </a:lnTo>
                    <a:cubicBezTo>
                      <a:pt x="850801" y="0"/>
                      <a:pt x="891123" y="40322"/>
                      <a:pt x="891123" y="90062"/>
                    </a:cubicBezTo>
                    <a:lnTo>
                      <a:pt x="891123" y="116422"/>
                    </a:lnTo>
                    <a:cubicBezTo>
                      <a:pt x="891123" y="140308"/>
                      <a:pt x="881634" y="163216"/>
                      <a:pt x="864744" y="180106"/>
                    </a:cubicBezTo>
                    <a:cubicBezTo>
                      <a:pt x="847854" y="196996"/>
                      <a:pt x="824947" y="206484"/>
                      <a:pt x="801061" y="206484"/>
                    </a:cubicBezTo>
                    <a:lnTo>
                      <a:pt x="90062" y="206484"/>
                    </a:lnTo>
                    <a:cubicBezTo>
                      <a:pt x="66176" y="206484"/>
                      <a:pt x="43269" y="196996"/>
                      <a:pt x="26379" y="180106"/>
                    </a:cubicBezTo>
                    <a:cubicBezTo>
                      <a:pt x="9489" y="163216"/>
                      <a:pt x="0" y="140308"/>
                      <a:pt x="0" y="116422"/>
                    </a:cubicBezTo>
                    <a:lnTo>
                      <a:pt x="0" y="90062"/>
                    </a:lnTo>
                    <a:cubicBezTo>
                      <a:pt x="0" y="66176"/>
                      <a:pt x="9489" y="43269"/>
                      <a:pt x="26379" y="26379"/>
                    </a:cubicBezTo>
                    <a:cubicBezTo>
                      <a:pt x="43269" y="9489"/>
                      <a:pt x="66176" y="0"/>
                      <a:pt x="90062" y="0"/>
                    </a:cubicBezTo>
                    <a:close/>
                  </a:path>
                </a:pathLst>
              </a:custGeom>
              <a:solidFill>
                <a:srgbClr val="82DDD1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28575"/>
                <a:ext cx="891123" cy="177909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598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397943" y="2546482"/>
              <a:ext cx="4126164" cy="987416"/>
              <a:chOff x="0" y="0"/>
              <a:chExt cx="891123" cy="21325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91123" cy="213251"/>
              </a:xfrm>
              <a:custGeom>
                <a:avLst/>
                <a:gdLst/>
                <a:ahLst/>
                <a:cxnLst/>
                <a:rect l="l" t="t" r="r" b="b"/>
                <a:pathLst>
                  <a:path w="891123" h="213251">
                    <a:moveTo>
                      <a:pt x="90062" y="0"/>
                    </a:moveTo>
                    <a:lnTo>
                      <a:pt x="801061" y="0"/>
                    </a:lnTo>
                    <a:cubicBezTo>
                      <a:pt x="850801" y="0"/>
                      <a:pt x="891123" y="40322"/>
                      <a:pt x="891123" y="90062"/>
                    </a:cubicBezTo>
                    <a:lnTo>
                      <a:pt x="891123" y="123189"/>
                    </a:lnTo>
                    <a:cubicBezTo>
                      <a:pt x="891123" y="147075"/>
                      <a:pt x="881634" y="169982"/>
                      <a:pt x="864744" y="186872"/>
                    </a:cubicBezTo>
                    <a:cubicBezTo>
                      <a:pt x="847854" y="203762"/>
                      <a:pt x="824947" y="213251"/>
                      <a:pt x="801061" y="213251"/>
                    </a:cubicBezTo>
                    <a:lnTo>
                      <a:pt x="90062" y="213251"/>
                    </a:lnTo>
                    <a:cubicBezTo>
                      <a:pt x="66176" y="213251"/>
                      <a:pt x="43269" y="203762"/>
                      <a:pt x="26379" y="186872"/>
                    </a:cubicBezTo>
                    <a:cubicBezTo>
                      <a:pt x="9489" y="169982"/>
                      <a:pt x="0" y="147075"/>
                      <a:pt x="0" y="123189"/>
                    </a:cubicBezTo>
                    <a:lnTo>
                      <a:pt x="0" y="90062"/>
                    </a:lnTo>
                    <a:cubicBezTo>
                      <a:pt x="0" y="66176"/>
                      <a:pt x="9489" y="43269"/>
                      <a:pt x="26379" y="26379"/>
                    </a:cubicBezTo>
                    <a:cubicBezTo>
                      <a:pt x="43269" y="9489"/>
                      <a:pt x="66176" y="0"/>
                      <a:pt x="90062" y="0"/>
                    </a:cubicBezTo>
                    <a:close/>
                  </a:path>
                </a:pathLst>
              </a:custGeom>
              <a:solidFill>
                <a:srgbClr val="EB04A3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28575"/>
                <a:ext cx="891123" cy="18467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598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 rot="2244099">
              <a:off x="1671039" y="1542472"/>
              <a:ext cx="2144855" cy="878990"/>
            </a:xfrm>
            <a:custGeom>
              <a:avLst/>
              <a:gdLst/>
              <a:ahLst/>
              <a:cxnLst/>
              <a:rect l="l" t="t" r="r" b="b"/>
              <a:pathLst>
                <a:path w="2144855" h="878990">
                  <a:moveTo>
                    <a:pt x="0" y="0"/>
                  </a:moveTo>
                  <a:lnTo>
                    <a:pt x="2144855" y="0"/>
                  </a:lnTo>
                  <a:lnTo>
                    <a:pt x="2144855" y="878991"/>
                  </a:lnTo>
                  <a:lnTo>
                    <a:pt x="0" y="878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-2700000" flipV="1">
              <a:off x="6612858" y="933601"/>
              <a:ext cx="1610897" cy="660167"/>
            </a:xfrm>
            <a:custGeom>
              <a:avLst/>
              <a:gdLst/>
              <a:ahLst/>
              <a:cxnLst/>
              <a:rect l="l" t="t" r="r" b="b"/>
              <a:pathLst>
                <a:path w="1610897" h="660167">
                  <a:moveTo>
                    <a:pt x="0" y="660167"/>
                  </a:moveTo>
                  <a:lnTo>
                    <a:pt x="1610897" y="660167"/>
                  </a:lnTo>
                  <a:lnTo>
                    <a:pt x="1610897" y="0"/>
                  </a:lnTo>
                  <a:lnTo>
                    <a:pt x="0" y="0"/>
                  </a:lnTo>
                  <a:lnTo>
                    <a:pt x="0" y="660167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rot="3584613" flipV="1">
              <a:off x="12029646" y="1271406"/>
              <a:ext cx="1722976" cy="706098"/>
            </a:xfrm>
            <a:custGeom>
              <a:avLst/>
              <a:gdLst/>
              <a:ahLst/>
              <a:cxnLst/>
              <a:rect l="l" t="t" r="r" b="b"/>
              <a:pathLst>
                <a:path w="1722976" h="706098">
                  <a:moveTo>
                    <a:pt x="0" y="706099"/>
                  </a:moveTo>
                  <a:lnTo>
                    <a:pt x="1722975" y="706099"/>
                  </a:lnTo>
                  <a:lnTo>
                    <a:pt x="1722975" y="0"/>
                  </a:lnTo>
                  <a:lnTo>
                    <a:pt x="0" y="0"/>
                  </a:lnTo>
                  <a:lnTo>
                    <a:pt x="0" y="706099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279027"/>
              <a:ext cx="4126164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 CAD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62348" y="2256161"/>
              <a:ext cx="4126164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Mesh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77776" y="540772"/>
              <a:ext cx="1597422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Static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629130" y="2749869"/>
              <a:ext cx="1663788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Modal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55303" y="5295801"/>
            <a:ext cx="3300627" cy="10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7"/>
              </a:lnSpc>
              <a:spcBef>
                <a:spcPct val="0"/>
              </a:spcBef>
            </a:pPr>
            <a:r>
              <a:rPr lang="en-US" sz="5685" spc="238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Flowchart: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2849" y="1511590"/>
            <a:ext cx="6003579" cy="7573322"/>
            <a:chOff x="0" y="0"/>
            <a:chExt cx="8004772" cy="100977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04772" cy="10097762"/>
            </a:xfrm>
            <a:custGeom>
              <a:avLst/>
              <a:gdLst/>
              <a:ahLst/>
              <a:cxnLst/>
              <a:rect l="l" t="t" r="r" b="b"/>
              <a:pathLst>
                <a:path w="8004772" h="10097762">
                  <a:moveTo>
                    <a:pt x="0" y="0"/>
                  </a:moveTo>
                  <a:lnTo>
                    <a:pt x="8004772" y="0"/>
                  </a:lnTo>
                  <a:lnTo>
                    <a:pt x="8004772" y="10097762"/>
                  </a:lnTo>
                  <a:lnTo>
                    <a:pt x="0" y="1009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788953" y="2124517"/>
              <a:ext cx="739806" cy="739806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902282" y="2109689"/>
              <a:ext cx="513149" cy="702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1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788953" y="3994623"/>
              <a:ext cx="739806" cy="739806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7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02282" y="3983828"/>
              <a:ext cx="513149" cy="702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88953" y="5864729"/>
              <a:ext cx="739806" cy="739740"/>
              <a:chOff x="0" y="0"/>
              <a:chExt cx="812800" cy="81272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72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28">
                    <a:moveTo>
                      <a:pt x="406400" y="0"/>
                    </a:moveTo>
                    <a:cubicBezTo>
                      <a:pt x="181951" y="0"/>
                      <a:pt x="0" y="181935"/>
                      <a:pt x="0" y="406364"/>
                    </a:cubicBezTo>
                    <a:cubicBezTo>
                      <a:pt x="0" y="630793"/>
                      <a:pt x="181951" y="812728"/>
                      <a:pt x="406400" y="812728"/>
                    </a:cubicBezTo>
                    <a:cubicBezTo>
                      <a:pt x="630849" y="812728"/>
                      <a:pt x="812800" y="630793"/>
                      <a:pt x="812800" y="406364"/>
                    </a:cubicBezTo>
                    <a:cubicBezTo>
                      <a:pt x="812800" y="18193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7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7"/>
                <a:ext cx="660400" cy="73654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02282" y="5845867"/>
              <a:ext cx="513149" cy="702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3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88953" y="7732759"/>
              <a:ext cx="739806" cy="745426"/>
              <a:chOff x="0" y="0"/>
              <a:chExt cx="812800" cy="8189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89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8975">
                    <a:moveTo>
                      <a:pt x="406400" y="0"/>
                    </a:moveTo>
                    <a:cubicBezTo>
                      <a:pt x="181951" y="0"/>
                      <a:pt x="0" y="183334"/>
                      <a:pt x="0" y="409487"/>
                    </a:cubicBezTo>
                    <a:cubicBezTo>
                      <a:pt x="0" y="635641"/>
                      <a:pt x="181951" y="818975"/>
                      <a:pt x="406400" y="818975"/>
                    </a:cubicBezTo>
                    <a:cubicBezTo>
                      <a:pt x="630849" y="818975"/>
                      <a:pt x="812800" y="635641"/>
                      <a:pt x="812800" y="409487"/>
                    </a:cubicBezTo>
                    <a:cubicBezTo>
                      <a:pt x="812800" y="18333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7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579"/>
                <a:ext cx="660400" cy="7416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902282" y="7755066"/>
              <a:ext cx="513149" cy="708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86735" y="1956366"/>
              <a:ext cx="5544359" cy="1085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Max displacement: 3.339 × 10⁻⁹ mm → negligible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6735" y="3826471"/>
              <a:ext cx="5544359" cy="1085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Max stress: 3.378 × 10⁻⁵ MPa </a:t>
              </a:r>
            </a:p>
            <a:p>
              <a:pPr algn="l">
                <a:lnSpc>
                  <a:spcPts val="3191"/>
                </a:lnSpc>
              </a:pPr>
              <a:r>
                <a:rPr lang="en-US" sz="2799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&lt;&lt; yield strength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6735" y="5963255"/>
              <a:ext cx="5544359" cy="552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Safety factor: 15.0 → very safe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86735" y="7834095"/>
              <a:ext cx="5544359" cy="552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Prosthesis behaves like rigid body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49303" y="1535607"/>
            <a:ext cx="9289030" cy="7549304"/>
            <a:chOff x="0" y="0"/>
            <a:chExt cx="12654042" cy="10284089"/>
          </a:xfrm>
        </p:grpSpPr>
        <p:sp>
          <p:nvSpPr>
            <p:cNvPr id="25" name="Freeform 25"/>
            <p:cNvSpPr/>
            <p:nvPr/>
          </p:nvSpPr>
          <p:spPr>
            <a:xfrm>
              <a:off x="31750" y="31750"/>
              <a:ext cx="12590542" cy="10220589"/>
            </a:xfrm>
            <a:custGeom>
              <a:avLst/>
              <a:gdLst/>
              <a:ahLst/>
              <a:cxnLst/>
              <a:rect l="l" t="t" r="r" b="b"/>
              <a:pathLst>
                <a:path w="12590542" h="10220589">
                  <a:moveTo>
                    <a:pt x="12497832" y="10220589"/>
                  </a:moveTo>
                  <a:lnTo>
                    <a:pt x="92710" y="10220589"/>
                  </a:lnTo>
                  <a:cubicBezTo>
                    <a:pt x="41910" y="10220589"/>
                    <a:pt x="0" y="10178679"/>
                    <a:pt x="0" y="1012787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2496562" y="0"/>
                  </a:lnTo>
                  <a:cubicBezTo>
                    <a:pt x="12547362" y="0"/>
                    <a:pt x="12589272" y="41910"/>
                    <a:pt x="12589272" y="92710"/>
                  </a:cubicBezTo>
                  <a:lnTo>
                    <a:pt x="12589272" y="10126609"/>
                  </a:lnTo>
                  <a:cubicBezTo>
                    <a:pt x="12590542" y="10178679"/>
                    <a:pt x="12548632" y="10220589"/>
                    <a:pt x="12497832" y="10220589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2654042" cy="10284089"/>
            </a:xfrm>
            <a:custGeom>
              <a:avLst/>
              <a:gdLst/>
              <a:ahLst/>
              <a:cxnLst/>
              <a:rect l="l" t="t" r="r" b="b"/>
              <a:pathLst>
                <a:path w="12654042" h="10284089">
                  <a:moveTo>
                    <a:pt x="12529582" y="59690"/>
                  </a:moveTo>
                  <a:cubicBezTo>
                    <a:pt x="12565142" y="59690"/>
                    <a:pt x="12594352" y="88900"/>
                    <a:pt x="12594352" y="124460"/>
                  </a:cubicBezTo>
                  <a:lnTo>
                    <a:pt x="12594352" y="10159629"/>
                  </a:lnTo>
                  <a:cubicBezTo>
                    <a:pt x="12594352" y="10195189"/>
                    <a:pt x="12565142" y="10224399"/>
                    <a:pt x="12529582" y="10224399"/>
                  </a:cubicBezTo>
                  <a:lnTo>
                    <a:pt x="124460" y="10224399"/>
                  </a:lnTo>
                  <a:cubicBezTo>
                    <a:pt x="88900" y="10224399"/>
                    <a:pt x="59690" y="10195189"/>
                    <a:pt x="59690" y="101596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2529582" y="59690"/>
                  </a:lnTo>
                  <a:moveTo>
                    <a:pt x="1252958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159629"/>
                  </a:lnTo>
                  <a:cubicBezTo>
                    <a:pt x="0" y="10228209"/>
                    <a:pt x="55880" y="10284089"/>
                    <a:pt x="124460" y="10284089"/>
                  </a:cubicBezTo>
                  <a:lnTo>
                    <a:pt x="12529582" y="10284089"/>
                  </a:lnTo>
                  <a:cubicBezTo>
                    <a:pt x="12598162" y="10284089"/>
                    <a:pt x="12654042" y="10228209"/>
                    <a:pt x="12654042" y="10159629"/>
                  </a:cubicBezTo>
                  <a:lnTo>
                    <a:pt x="12654042" y="124460"/>
                  </a:lnTo>
                  <a:cubicBezTo>
                    <a:pt x="12654042" y="55880"/>
                    <a:pt x="12598162" y="0"/>
                    <a:pt x="1252958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7" name="Freeform 27"/>
          <p:cNvSpPr/>
          <p:nvPr/>
        </p:nvSpPr>
        <p:spPr>
          <a:xfrm rot="-1568932">
            <a:off x="-30836" y="8050291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5027046">
            <a:off x="16502236" y="496365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8" y="0"/>
                </a:lnTo>
                <a:lnTo>
                  <a:pt x="1514128" y="1379233"/>
                </a:lnTo>
                <a:lnTo>
                  <a:pt x="0" y="13792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8878474" flipV="1">
            <a:off x="14462783" y="8607260"/>
            <a:ext cx="4427299" cy="1110849"/>
          </a:xfrm>
          <a:custGeom>
            <a:avLst/>
            <a:gdLst/>
            <a:ahLst/>
            <a:cxnLst/>
            <a:rect l="l" t="t" r="r" b="b"/>
            <a:pathLst>
              <a:path w="4427299" h="1110849">
                <a:moveTo>
                  <a:pt x="0" y="1110850"/>
                </a:moveTo>
                <a:lnTo>
                  <a:pt x="4427299" y="1110850"/>
                </a:lnTo>
                <a:lnTo>
                  <a:pt x="4427299" y="0"/>
                </a:lnTo>
                <a:lnTo>
                  <a:pt x="0" y="0"/>
                </a:lnTo>
                <a:lnTo>
                  <a:pt x="0" y="111085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pic>
        <p:nvPicPr>
          <p:cNvPr id="30" name="Picture 3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611.333"/>
                </p14:media>
              </p:ext>
            </p:extLst>
          </p:nvPr>
        </p:nvPicPr>
        <p:blipFill>
          <a:blip r:embed="rId14"/>
          <a:srcRect/>
          <a:stretch>
            <a:fillRect/>
          </a:stretch>
        </p:blipFill>
        <p:spPr>
          <a:xfrm>
            <a:off x="7710721" y="1933709"/>
            <a:ext cx="5043643" cy="2865858"/>
          </a:xfrm>
          <a:prstGeom prst="rect">
            <a:avLst/>
          </a:prstGeom>
        </p:spPr>
      </p:pic>
      <p:pic>
        <p:nvPicPr>
          <p:cNvPr id="31" name="Picture 3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rcRect l="602" r="602"/>
          <a:stretch>
            <a:fillRect/>
          </a:stretch>
        </p:blipFill>
        <p:spPr>
          <a:xfrm>
            <a:off x="7772400" y="5298251"/>
            <a:ext cx="5085669" cy="3000545"/>
          </a:xfrm>
          <a:prstGeom prst="rect">
            <a:avLst/>
          </a:prstGeom>
        </p:spPr>
      </p:pic>
      <p:sp>
        <p:nvSpPr>
          <p:cNvPr id="32" name="Freeform 32"/>
          <p:cNvSpPr/>
          <p:nvPr/>
        </p:nvSpPr>
        <p:spPr>
          <a:xfrm>
            <a:off x="12986890" y="3744478"/>
            <a:ext cx="3498556" cy="2339001"/>
          </a:xfrm>
          <a:custGeom>
            <a:avLst/>
            <a:gdLst/>
            <a:ahLst/>
            <a:cxnLst/>
            <a:rect l="l" t="t" r="r" b="b"/>
            <a:pathLst>
              <a:path w="3498556" h="2339001">
                <a:moveTo>
                  <a:pt x="0" y="0"/>
                </a:moveTo>
                <a:lnTo>
                  <a:pt x="3498556" y="0"/>
                </a:lnTo>
                <a:lnTo>
                  <a:pt x="3498556" y="2339001"/>
                </a:lnTo>
                <a:lnTo>
                  <a:pt x="0" y="23390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7705" t="-49199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653889" y="139624"/>
            <a:ext cx="1298022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Static Analysis Results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1669" y="4775460"/>
            <a:ext cx="6103782" cy="26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  <a:spcBef>
                <a:spcPct val="0"/>
              </a:spcBef>
            </a:pPr>
            <a:r>
              <a:rPr lang="en-US" sz="1708" spc="7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Stress distribution plot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1669" y="8546445"/>
            <a:ext cx="6103782" cy="26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  <a:spcBef>
                <a:spcPct val="0"/>
              </a:spcBef>
            </a:pPr>
            <a:r>
              <a:rPr lang="en-US" sz="1708" spc="7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Displacement plot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684277" y="6178039"/>
            <a:ext cx="6103782" cy="26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6"/>
              </a:lnSpc>
              <a:spcBef>
                <a:spcPct val="0"/>
              </a:spcBef>
            </a:pPr>
            <a:r>
              <a:rPr lang="en-US" sz="1708" spc="7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Safety factor plot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video>
              <p:cMediaNode vol="0">
                <p:cTn id="3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6025" y="1652985"/>
            <a:ext cx="5776358" cy="7605315"/>
          </a:xfrm>
          <a:custGeom>
            <a:avLst/>
            <a:gdLst/>
            <a:ahLst/>
            <a:cxnLst/>
            <a:rect l="l" t="t" r="r" b="b"/>
            <a:pathLst>
              <a:path w="5776358" h="7605315">
                <a:moveTo>
                  <a:pt x="0" y="0"/>
                </a:moveTo>
                <a:lnTo>
                  <a:pt x="5776358" y="0"/>
                </a:lnTo>
                <a:lnTo>
                  <a:pt x="5776358" y="7605315"/>
                </a:lnTo>
                <a:lnTo>
                  <a:pt x="0" y="760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86" r="-218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5345" y="3186067"/>
            <a:ext cx="533855" cy="53385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5345" y="4535562"/>
            <a:ext cx="533855" cy="53385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5345" y="5885057"/>
            <a:ext cx="533855" cy="533807"/>
            <a:chOff x="0" y="0"/>
            <a:chExt cx="812800" cy="8127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728"/>
            </a:xfrm>
            <a:custGeom>
              <a:avLst/>
              <a:gdLst/>
              <a:ahLst/>
              <a:cxnLst/>
              <a:rect l="l" t="t" r="r" b="b"/>
              <a:pathLst>
                <a:path w="812800" h="812728">
                  <a:moveTo>
                    <a:pt x="406400" y="0"/>
                  </a:moveTo>
                  <a:cubicBezTo>
                    <a:pt x="181951" y="0"/>
                    <a:pt x="0" y="181935"/>
                    <a:pt x="0" y="406364"/>
                  </a:cubicBezTo>
                  <a:cubicBezTo>
                    <a:pt x="0" y="630793"/>
                    <a:pt x="181951" y="812728"/>
                    <a:pt x="406400" y="812728"/>
                  </a:cubicBezTo>
                  <a:cubicBezTo>
                    <a:pt x="630849" y="812728"/>
                    <a:pt x="812800" y="630793"/>
                    <a:pt x="812800" y="406364"/>
                  </a:cubicBezTo>
                  <a:cubicBezTo>
                    <a:pt x="812800" y="18193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-7"/>
              <a:ext cx="660400" cy="736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5345" y="7233055"/>
            <a:ext cx="533855" cy="537910"/>
            <a:chOff x="0" y="0"/>
            <a:chExt cx="812800" cy="818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8975"/>
            </a:xfrm>
            <a:custGeom>
              <a:avLst/>
              <a:gdLst/>
              <a:ahLst/>
              <a:cxnLst/>
              <a:rect l="l" t="t" r="r" b="b"/>
              <a:pathLst>
                <a:path w="812800" h="818975">
                  <a:moveTo>
                    <a:pt x="406400" y="0"/>
                  </a:moveTo>
                  <a:cubicBezTo>
                    <a:pt x="181951" y="0"/>
                    <a:pt x="0" y="183334"/>
                    <a:pt x="0" y="409487"/>
                  </a:cubicBezTo>
                  <a:cubicBezTo>
                    <a:pt x="0" y="635641"/>
                    <a:pt x="181951" y="818975"/>
                    <a:pt x="406400" y="818975"/>
                  </a:cubicBezTo>
                  <a:cubicBezTo>
                    <a:pt x="630849" y="818975"/>
                    <a:pt x="812800" y="635641"/>
                    <a:pt x="812800" y="409487"/>
                  </a:cubicBezTo>
                  <a:cubicBezTo>
                    <a:pt x="812800" y="18333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579"/>
              <a:ext cx="660400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562883" y="1667299"/>
            <a:ext cx="5830106" cy="3476201"/>
          </a:xfrm>
          <a:custGeom>
            <a:avLst/>
            <a:gdLst/>
            <a:ahLst/>
            <a:cxnLst/>
            <a:rect l="l" t="t" r="r" b="b"/>
            <a:pathLst>
              <a:path w="5830106" h="3476201">
                <a:moveTo>
                  <a:pt x="0" y="0"/>
                </a:moveTo>
                <a:lnTo>
                  <a:pt x="5830107" y="0"/>
                </a:lnTo>
                <a:lnTo>
                  <a:pt x="5830107" y="3476201"/>
                </a:lnTo>
                <a:lnTo>
                  <a:pt x="0" y="3476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614861" y="6080858"/>
            <a:ext cx="5545928" cy="3514732"/>
          </a:xfrm>
          <a:custGeom>
            <a:avLst/>
            <a:gdLst/>
            <a:ahLst/>
            <a:cxnLst/>
            <a:rect l="l" t="t" r="r" b="b"/>
            <a:pathLst>
              <a:path w="5545928" h="3514732">
                <a:moveTo>
                  <a:pt x="0" y="0"/>
                </a:moveTo>
                <a:lnTo>
                  <a:pt x="5545927" y="0"/>
                </a:lnTo>
                <a:lnTo>
                  <a:pt x="5545927" y="3514732"/>
                </a:lnTo>
                <a:lnTo>
                  <a:pt x="0" y="351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986839" y="6017309"/>
            <a:ext cx="5380461" cy="3679929"/>
          </a:xfrm>
          <a:custGeom>
            <a:avLst/>
            <a:gdLst/>
            <a:ahLst/>
            <a:cxnLst/>
            <a:rect l="l" t="t" r="r" b="b"/>
            <a:pathLst>
              <a:path w="5380461" h="3679929">
                <a:moveTo>
                  <a:pt x="0" y="0"/>
                </a:moveTo>
                <a:lnTo>
                  <a:pt x="5380462" y="0"/>
                </a:lnTo>
                <a:lnTo>
                  <a:pt x="5380462" y="3679930"/>
                </a:lnTo>
                <a:lnTo>
                  <a:pt x="0" y="36799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583490" y="1789621"/>
            <a:ext cx="5372824" cy="3245293"/>
          </a:xfrm>
          <a:custGeom>
            <a:avLst/>
            <a:gdLst/>
            <a:ahLst/>
            <a:cxnLst/>
            <a:rect l="l" t="t" r="r" b="b"/>
            <a:pathLst>
              <a:path w="5372824" h="3245293">
                <a:moveTo>
                  <a:pt x="0" y="0"/>
                </a:moveTo>
                <a:lnTo>
                  <a:pt x="5372823" y="0"/>
                </a:lnTo>
                <a:lnTo>
                  <a:pt x="5372823" y="3245293"/>
                </a:lnTo>
                <a:lnTo>
                  <a:pt x="0" y="32452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653889" y="139624"/>
            <a:ext cx="1298022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Modal Analysis Results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125" y="3166330"/>
            <a:ext cx="370295" cy="5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  <a:spcBef>
                <a:spcPct val="0"/>
              </a:spcBef>
            </a:pPr>
            <a:r>
              <a:rPr lang="en-US" sz="3055" spc="61">
                <a:solidFill>
                  <a:srgbClr val="231F20"/>
                </a:solidFill>
                <a:latin typeface="TAN Headline"/>
                <a:ea typeface="TAN Headline"/>
                <a:cs typeface="TAN Headline"/>
                <a:sym typeface="TAN Headline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7125" y="4518736"/>
            <a:ext cx="370295" cy="5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  <a:spcBef>
                <a:spcPct val="0"/>
              </a:spcBef>
            </a:pPr>
            <a:r>
              <a:rPr lang="en-US" sz="3055" spc="61">
                <a:solidFill>
                  <a:srgbClr val="231F20"/>
                </a:solidFill>
                <a:latin typeface="TAN Headline"/>
                <a:ea typeface="TAN Headline"/>
                <a:cs typeface="TAN Headline"/>
                <a:sym typeface="TAN Headline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7125" y="5862410"/>
            <a:ext cx="370295" cy="516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  <a:spcBef>
                <a:spcPct val="0"/>
              </a:spcBef>
            </a:pPr>
            <a:r>
              <a:rPr lang="en-US" sz="3055" spc="61">
                <a:solidFill>
                  <a:srgbClr val="231F20"/>
                </a:solidFill>
                <a:latin typeface="TAN Headline"/>
                <a:ea typeface="TAN Headline"/>
                <a:cs typeface="TAN Headline"/>
                <a:sym typeface="TAN Headline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7125" y="7240116"/>
            <a:ext cx="370295" cy="52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  <a:spcBef>
                <a:spcPct val="0"/>
              </a:spcBef>
            </a:pPr>
            <a:r>
              <a:rPr lang="en-US" sz="3055" spc="61">
                <a:solidFill>
                  <a:srgbClr val="231F20"/>
                </a:solidFill>
                <a:latin typeface="TAN Headline"/>
                <a:ea typeface="TAN Headline"/>
                <a:cs typeface="TAN Headline"/>
                <a:sym typeface="TAN Headline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85359" y="3067378"/>
            <a:ext cx="4000889" cy="78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6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Natural frequencies: 7.4 kHz – 188.7 kHz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85359" y="4227345"/>
            <a:ext cx="4000889" cy="116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6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All modes lie above the 100–6000 Hz hearing band → resonance avoided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85359" y="5955873"/>
            <a:ext cx="4000889" cy="395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6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Vibrations are stable.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85359" y="7143191"/>
            <a:ext cx="4000889" cy="78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6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Only bending/twisting in higher modes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85172" y="5149693"/>
            <a:ext cx="5585529" cy="56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655" spc="6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Modal frequencies of TORP – all above hearing range, with bars colored by dominant axis.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14861" y="5187434"/>
            <a:ext cx="5585529" cy="56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655" spc="6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 Mode 1 deformation shape at 7427 Hz, dominated by Y-axis participation.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84305" y="9706764"/>
            <a:ext cx="5585529" cy="56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655" spc="6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Mode 2 deformation shape at 10,384 Hz, dominated by X-axis participation.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14861" y="9747990"/>
            <a:ext cx="5585529" cy="56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655" spc="6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 Mode 8 deformation shape at 188,724 Hz, dominated by X-axis participation.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745" y="2101973"/>
            <a:ext cx="5325570" cy="4097473"/>
            <a:chOff x="0" y="0"/>
            <a:chExt cx="1402619" cy="1079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2619" cy="1079170"/>
            </a:xfrm>
            <a:custGeom>
              <a:avLst/>
              <a:gdLst/>
              <a:ahLst/>
              <a:cxnLst/>
              <a:rect l="l" t="t" r="r" b="b"/>
              <a:pathLst>
                <a:path w="1402619" h="1079170">
                  <a:moveTo>
                    <a:pt x="52334" y="0"/>
                  </a:moveTo>
                  <a:lnTo>
                    <a:pt x="1350285" y="0"/>
                  </a:lnTo>
                  <a:cubicBezTo>
                    <a:pt x="1364165" y="0"/>
                    <a:pt x="1377476" y="5514"/>
                    <a:pt x="1387291" y="15328"/>
                  </a:cubicBezTo>
                  <a:cubicBezTo>
                    <a:pt x="1397106" y="25143"/>
                    <a:pt x="1402619" y="38454"/>
                    <a:pt x="1402619" y="52334"/>
                  </a:cubicBezTo>
                  <a:lnTo>
                    <a:pt x="1402619" y="1026836"/>
                  </a:lnTo>
                  <a:cubicBezTo>
                    <a:pt x="1402619" y="1055739"/>
                    <a:pt x="1379188" y="1079170"/>
                    <a:pt x="1350285" y="1079170"/>
                  </a:cubicBezTo>
                  <a:lnTo>
                    <a:pt x="52334" y="1079170"/>
                  </a:lnTo>
                  <a:cubicBezTo>
                    <a:pt x="38454" y="1079170"/>
                    <a:pt x="25143" y="1073656"/>
                    <a:pt x="15328" y="1063842"/>
                  </a:cubicBezTo>
                  <a:cubicBezTo>
                    <a:pt x="5514" y="1054027"/>
                    <a:pt x="0" y="1040716"/>
                    <a:pt x="0" y="1026836"/>
                  </a:cubicBezTo>
                  <a:lnTo>
                    <a:pt x="0" y="52334"/>
                  </a:lnTo>
                  <a:cubicBezTo>
                    <a:pt x="0" y="38454"/>
                    <a:pt x="5514" y="25143"/>
                    <a:pt x="15328" y="15328"/>
                  </a:cubicBezTo>
                  <a:cubicBezTo>
                    <a:pt x="25143" y="5514"/>
                    <a:pt x="38454" y="0"/>
                    <a:pt x="52334" y="0"/>
                  </a:cubicBezTo>
                  <a:close/>
                </a:path>
              </a:pathLst>
            </a:custGeom>
            <a:solidFill>
              <a:srgbClr val="82DDD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02619" cy="1107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027046">
            <a:off x="16227239" y="1391841"/>
            <a:ext cx="1024974" cy="933658"/>
          </a:xfrm>
          <a:custGeom>
            <a:avLst/>
            <a:gdLst/>
            <a:ahLst/>
            <a:cxnLst/>
            <a:rect l="l" t="t" r="r" b="b"/>
            <a:pathLst>
              <a:path w="1024974" h="933658">
                <a:moveTo>
                  <a:pt x="0" y="0"/>
                </a:moveTo>
                <a:lnTo>
                  <a:pt x="1024974" y="0"/>
                </a:lnTo>
                <a:lnTo>
                  <a:pt x="1024974" y="933658"/>
                </a:lnTo>
                <a:lnTo>
                  <a:pt x="0" y="933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51707" y="2101973"/>
            <a:ext cx="5325570" cy="4097473"/>
            <a:chOff x="0" y="0"/>
            <a:chExt cx="1402619" cy="1079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2619" cy="1079170"/>
            </a:xfrm>
            <a:custGeom>
              <a:avLst/>
              <a:gdLst/>
              <a:ahLst/>
              <a:cxnLst/>
              <a:rect l="l" t="t" r="r" b="b"/>
              <a:pathLst>
                <a:path w="1402619" h="1079170">
                  <a:moveTo>
                    <a:pt x="52334" y="0"/>
                  </a:moveTo>
                  <a:lnTo>
                    <a:pt x="1350285" y="0"/>
                  </a:lnTo>
                  <a:cubicBezTo>
                    <a:pt x="1364165" y="0"/>
                    <a:pt x="1377476" y="5514"/>
                    <a:pt x="1387291" y="15328"/>
                  </a:cubicBezTo>
                  <a:cubicBezTo>
                    <a:pt x="1397106" y="25143"/>
                    <a:pt x="1402619" y="38454"/>
                    <a:pt x="1402619" y="52334"/>
                  </a:cubicBezTo>
                  <a:lnTo>
                    <a:pt x="1402619" y="1026836"/>
                  </a:lnTo>
                  <a:cubicBezTo>
                    <a:pt x="1402619" y="1055739"/>
                    <a:pt x="1379188" y="1079170"/>
                    <a:pt x="1350285" y="1079170"/>
                  </a:cubicBezTo>
                  <a:lnTo>
                    <a:pt x="52334" y="1079170"/>
                  </a:lnTo>
                  <a:cubicBezTo>
                    <a:pt x="38454" y="1079170"/>
                    <a:pt x="25143" y="1073656"/>
                    <a:pt x="15328" y="1063842"/>
                  </a:cubicBezTo>
                  <a:cubicBezTo>
                    <a:pt x="5514" y="1054027"/>
                    <a:pt x="0" y="1040716"/>
                    <a:pt x="0" y="1026836"/>
                  </a:cubicBezTo>
                  <a:lnTo>
                    <a:pt x="0" y="52334"/>
                  </a:lnTo>
                  <a:cubicBezTo>
                    <a:pt x="0" y="38454"/>
                    <a:pt x="5514" y="25143"/>
                    <a:pt x="15328" y="15328"/>
                  </a:cubicBezTo>
                  <a:cubicBezTo>
                    <a:pt x="25143" y="5514"/>
                    <a:pt x="38454" y="0"/>
                    <a:pt x="52334" y="0"/>
                  </a:cubicBezTo>
                  <a:close/>
                </a:path>
              </a:pathLst>
            </a:custGeom>
            <a:solidFill>
              <a:srgbClr val="FBC0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02619" cy="1107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47565" y="2227084"/>
            <a:ext cx="4928268" cy="72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Static Analysis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88435" y="3310827"/>
            <a:ext cx="5128523" cy="2638169"/>
            <a:chOff x="0" y="0"/>
            <a:chExt cx="6838030" cy="3517559"/>
          </a:xfrm>
        </p:grpSpPr>
        <p:sp>
          <p:nvSpPr>
            <p:cNvPr id="11" name="TextBox 11"/>
            <p:cNvSpPr txBox="1"/>
            <p:nvPr/>
          </p:nvSpPr>
          <p:spPr>
            <a:xfrm>
              <a:off x="2760289" y="366375"/>
              <a:ext cx="167349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39585" y="-19050"/>
              <a:ext cx="2985815" cy="1586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Near-rigid behavior (displacement in nanometres)</a:t>
              </a:r>
            </a:p>
            <a:p>
              <a:pPr algn="ctr">
                <a:lnSpc>
                  <a:spcPts val="1920"/>
                </a:lnSpc>
                <a:spcBef>
                  <a:spcPct val="0"/>
                </a:spcBef>
              </a:pPr>
              <a:endParaRPr lang="en-US" sz="1500" spc="6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18353" y="1868214"/>
              <a:ext cx="367771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76990" y="1761149"/>
              <a:ext cx="2985815" cy="63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Stress far below yield strength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919899"/>
              <a:ext cx="5771839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77902" y="2883829"/>
              <a:ext cx="3460128" cy="63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High safety factor (15.0)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21172" y="107992"/>
            <a:ext cx="6245655" cy="120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7500" spc="31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Discussion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90299" y="2227084"/>
            <a:ext cx="5974667" cy="72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Modal Analysis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13702" y="3174340"/>
            <a:ext cx="2641475" cy="699135"/>
            <a:chOff x="0" y="0"/>
            <a:chExt cx="3521966" cy="9321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75770"/>
              <a:ext cx="167349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6151" y="-19050"/>
              <a:ext cx="2985815" cy="951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Natural frequencies = 7.4 kHz to 188.7 kHz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930624" y="4280344"/>
            <a:ext cx="2807631" cy="699135"/>
            <a:chOff x="0" y="0"/>
            <a:chExt cx="3743508" cy="93218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246765"/>
              <a:ext cx="367771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693" y="-19050"/>
              <a:ext cx="2985815" cy="951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All above 100–6000 Hz → no resonance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3659" y="5389054"/>
            <a:ext cx="5119901" cy="461010"/>
            <a:chOff x="0" y="0"/>
            <a:chExt cx="6826535" cy="61468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17020"/>
              <a:ext cx="5771839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66407" y="-19050"/>
              <a:ext cx="3460128" cy="63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Stable, well-defined vibration modes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28303" y="6504247"/>
            <a:ext cx="6932856" cy="3042755"/>
            <a:chOff x="0" y="0"/>
            <a:chExt cx="1825937" cy="8013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25937" cy="801384"/>
            </a:xfrm>
            <a:custGeom>
              <a:avLst/>
              <a:gdLst/>
              <a:ahLst/>
              <a:cxnLst/>
              <a:rect l="l" t="t" r="r" b="b"/>
              <a:pathLst>
                <a:path w="1825937" h="801384">
                  <a:moveTo>
                    <a:pt x="40201" y="0"/>
                  </a:moveTo>
                  <a:lnTo>
                    <a:pt x="1785736" y="0"/>
                  </a:lnTo>
                  <a:cubicBezTo>
                    <a:pt x="1796398" y="0"/>
                    <a:pt x="1806623" y="4235"/>
                    <a:pt x="1814163" y="11775"/>
                  </a:cubicBezTo>
                  <a:cubicBezTo>
                    <a:pt x="1821702" y="19314"/>
                    <a:pt x="1825937" y="29539"/>
                    <a:pt x="1825937" y="40201"/>
                  </a:cubicBezTo>
                  <a:lnTo>
                    <a:pt x="1825937" y="761183"/>
                  </a:lnTo>
                  <a:cubicBezTo>
                    <a:pt x="1825937" y="771845"/>
                    <a:pt x="1821702" y="782070"/>
                    <a:pt x="1814163" y="789609"/>
                  </a:cubicBezTo>
                  <a:cubicBezTo>
                    <a:pt x="1806623" y="797149"/>
                    <a:pt x="1796398" y="801384"/>
                    <a:pt x="1785736" y="801384"/>
                  </a:cubicBezTo>
                  <a:lnTo>
                    <a:pt x="40201" y="801384"/>
                  </a:lnTo>
                  <a:cubicBezTo>
                    <a:pt x="17999" y="801384"/>
                    <a:pt x="0" y="783385"/>
                    <a:pt x="0" y="761183"/>
                  </a:cubicBezTo>
                  <a:lnTo>
                    <a:pt x="0" y="40201"/>
                  </a:lnTo>
                  <a:cubicBezTo>
                    <a:pt x="0" y="29539"/>
                    <a:pt x="4235" y="19314"/>
                    <a:pt x="11775" y="11775"/>
                  </a:cubicBezTo>
                  <a:cubicBezTo>
                    <a:pt x="19314" y="4235"/>
                    <a:pt x="29539" y="0"/>
                    <a:pt x="40201" y="0"/>
                  </a:cubicBezTo>
                  <a:close/>
                </a:path>
              </a:pathLst>
            </a:custGeom>
            <a:solidFill>
              <a:srgbClr val="F5B9BA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825937" cy="829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759110" y="6582576"/>
            <a:ext cx="3671243" cy="72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FF3131"/>
                </a:solidFill>
                <a:latin typeface="TAN Headline"/>
                <a:ea typeface="TAN Headline"/>
                <a:cs typeface="TAN Headline"/>
                <a:sym typeface="TAN Headline"/>
              </a:rPr>
              <a:t>Implication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554307" y="7805030"/>
            <a:ext cx="2669673" cy="937260"/>
            <a:chOff x="0" y="0"/>
            <a:chExt cx="3559564" cy="1249680"/>
          </a:xfrm>
        </p:grpSpPr>
        <p:sp>
          <p:nvSpPr>
            <p:cNvPr id="33" name="TextBox 33"/>
            <p:cNvSpPr txBox="1"/>
            <p:nvPr/>
          </p:nvSpPr>
          <p:spPr>
            <a:xfrm>
              <a:off x="0" y="175770"/>
              <a:ext cx="167349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3749" y="-19050"/>
              <a:ext cx="2985815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TORP is mechanically safe &amp; dynamically reliable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50863" y="7906167"/>
            <a:ext cx="2762839" cy="937260"/>
            <a:chOff x="0" y="0"/>
            <a:chExt cx="3683786" cy="1249680"/>
          </a:xfrm>
        </p:grpSpPr>
        <p:sp>
          <p:nvSpPr>
            <p:cNvPr id="36" name="TextBox 36"/>
            <p:cNvSpPr txBox="1"/>
            <p:nvPr/>
          </p:nvSpPr>
          <p:spPr>
            <a:xfrm>
              <a:off x="0" y="246765"/>
              <a:ext cx="367771" cy="55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8"/>
                </a:lnSpc>
                <a:spcBef>
                  <a:spcPct val="0"/>
                </a:spcBef>
              </a:pPr>
              <a:r>
                <a:rPr lang="en-US" sz="2600" spc="109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7971" y="-19050"/>
              <a:ext cx="2985815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500" spc="63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Provides strong base for prototyping &amp; trials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5102" y="1498898"/>
            <a:ext cx="15607023" cy="7510732"/>
            <a:chOff x="0" y="0"/>
            <a:chExt cx="21260769" cy="10231544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197269" cy="10168044"/>
            </a:xfrm>
            <a:custGeom>
              <a:avLst/>
              <a:gdLst/>
              <a:ahLst/>
              <a:cxnLst/>
              <a:rect l="l" t="t" r="r" b="b"/>
              <a:pathLst>
                <a:path w="21197269" h="10168044">
                  <a:moveTo>
                    <a:pt x="21104560" y="10168044"/>
                  </a:moveTo>
                  <a:lnTo>
                    <a:pt x="92710" y="10168044"/>
                  </a:lnTo>
                  <a:cubicBezTo>
                    <a:pt x="41910" y="10168044"/>
                    <a:pt x="0" y="10126134"/>
                    <a:pt x="0" y="1007533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103290" y="0"/>
                  </a:lnTo>
                  <a:cubicBezTo>
                    <a:pt x="21154090" y="0"/>
                    <a:pt x="21195999" y="41910"/>
                    <a:pt x="21195999" y="92710"/>
                  </a:cubicBezTo>
                  <a:lnTo>
                    <a:pt x="21195999" y="10074064"/>
                  </a:lnTo>
                  <a:cubicBezTo>
                    <a:pt x="21197269" y="10126134"/>
                    <a:pt x="21155360" y="10168044"/>
                    <a:pt x="21104560" y="10168044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260769" cy="10231544"/>
            </a:xfrm>
            <a:custGeom>
              <a:avLst/>
              <a:gdLst/>
              <a:ahLst/>
              <a:cxnLst/>
              <a:rect l="l" t="t" r="r" b="b"/>
              <a:pathLst>
                <a:path w="21260769" h="10231544">
                  <a:moveTo>
                    <a:pt x="21136310" y="59690"/>
                  </a:moveTo>
                  <a:cubicBezTo>
                    <a:pt x="21171869" y="59690"/>
                    <a:pt x="21201080" y="88900"/>
                    <a:pt x="21201080" y="124460"/>
                  </a:cubicBezTo>
                  <a:lnTo>
                    <a:pt x="21201080" y="10107084"/>
                  </a:lnTo>
                  <a:cubicBezTo>
                    <a:pt x="21201080" y="10142644"/>
                    <a:pt x="21171869" y="10171854"/>
                    <a:pt x="21136310" y="10171854"/>
                  </a:cubicBezTo>
                  <a:lnTo>
                    <a:pt x="124460" y="10171854"/>
                  </a:lnTo>
                  <a:cubicBezTo>
                    <a:pt x="88900" y="10171854"/>
                    <a:pt x="59690" y="10142644"/>
                    <a:pt x="59690" y="1010708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136310" y="59690"/>
                  </a:lnTo>
                  <a:moveTo>
                    <a:pt x="2113631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107084"/>
                  </a:lnTo>
                  <a:cubicBezTo>
                    <a:pt x="0" y="10175664"/>
                    <a:pt x="55880" y="10231544"/>
                    <a:pt x="124460" y="10231544"/>
                  </a:cubicBezTo>
                  <a:lnTo>
                    <a:pt x="21136310" y="10231544"/>
                  </a:lnTo>
                  <a:cubicBezTo>
                    <a:pt x="21204890" y="10231544"/>
                    <a:pt x="21260769" y="10175664"/>
                    <a:pt x="21260769" y="10107084"/>
                  </a:cubicBezTo>
                  <a:lnTo>
                    <a:pt x="21260769" y="124460"/>
                  </a:lnTo>
                  <a:cubicBezTo>
                    <a:pt x="21260769" y="55880"/>
                    <a:pt x="21204890" y="0"/>
                    <a:pt x="21136310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348100" y="2015627"/>
            <a:ext cx="681985" cy="681985"/>
            <a:chOff x="0" y="0"/>
            <a:chExt cx="909313" cy="90931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09313" cy="90931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17C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39295" y="-12474"/>
              <a:ext cx="630724" cy="858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65"/>
                </a:lnSpc>
                <a:spcBef>
                  <a:spcPct val="0"/>
                </a:spcBef>
              </a:pPr>
              <a:r>
                <a:rPr lang="en-US" sz="3903" spc="78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348100" y="5520055"/>
            <a:ext cx="681985" cy="681985"/>
            <a:chOff x="0" y="0"/>
            <a:chExt cx="909313" cy="90931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09313" cy="909313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17C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39295" y="-7517"/>
              <a:ext cx="630724" cy="858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65"/>
                </a:lnSpc>
                <a:spcBef>
                  <a:spcPct val="0"/>
                </a:spcBef>
              </a:pPr>
              <a:r>
                <a:rPr lang="en-US" sz="3903" spc="78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rot="-3617189" flipH="1">
            <a:off x="15767695" y="8040444"/>
            <a:ext cx="2983210" cy="2891002"/>
          </a:xfrm>
          <a:custGeom>
            <a:avLst/>
            <a:gdLst/>
            <a:ahLst/>
            <a:cxnLst/>
            <a:rect l="l" t="t" r="r" b="b"/>
            <a:pathLst>
              <a:path w="2983210" h="2891002">
                <a:moveTo>
                  <a:pt x="2983210" y="0"/>
                </a:moveTo>
                <a:lnTo>
                  <a:pt x="0" y="0"/>
                </a:lnTo>
                <a:lnTo>
                  <a:pt x="0" y="2891002"/>
                </a:lnTo>
                <a:lnTo>
                  <a:pt x="2983210" y="2891002"/>
                </a:lnTo>
                <a:lnTo>
                  <a:pt x="2983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3068945" y="2015627"/>
            <a:ext cx="2190312" cy="681985"/>
            <a:chOff x="0" y="0"/>
            <a:chExt cx="576872" cy="1796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6872" cy="179617"/>
            </a:xfrm>
            <a:custGeom>
              <a:avLst/>
              <a:gdLst/>
              <a:ahLst/>
              <a:cxnLst/>
              <a:rect l="l" t="t" r="r" b="b"/>
              <a:pathLst>
                <a:path w="576872" h="179617">
                  <a:moveTo>
                    <a:pt x="89809" y="0"/>
                  </a:moveTo>
                  <a:lnTo>
                    <a:pt x="487064" y="0"/>
                  </a:lnTo>
                  <a:cubicBezTo>
                    <a:pt x="510882" y="0"/>
                    <a:pt x="533726" y="9462"/>
                    <a:pt x="550568" y="26304"/>
                  </a:cubicBezTo>
                  <a:cubicBezTo>
                    <a:pt x="567410" y="43147"/>
                    <a:pt x="576872" y="65990"/>
                    <a:pt x="576872" y="89809"/>
                  </a:cubicBezTo>
                  <a:lnTo>
                    <a:pt x="576872" y="89809"/>
                  </a:lnTo>
                  <a:cubicBezTo>
                    <a:pt x="576872" y="113627"/>
                    <a:pt x="567410" y="136471"/>
                    <a:pt x="550568" y="153313"/>
                  </a:cubicBezTo>
                  <a:cubicBezTo>
                    <a:pt x="533726" y="170156"/>
                    <a:pt x="510882" y="179617"/>
                    <a:pt x="487064" y="179617"/>
                  </a:cubicBezTo>
                  <a:lnTo>
                    <a:pt x="89809" y="179617"/>
                  </a:lnTo>
                  <a:cubicBezTo>
                    <a:pt x="65990" y="179617"/>
                    <a:pt x="43147" y="170156"/>
                    <a:pt x="26304" y="153313"/>
                  </a:cubicBezTo>
                  <a:cubicBezTo>
                    <a:pt x="9462" y="136471"/>
                    <a:pt x="0" y="113627"/>
                    <a:pt x="0" y="89809"/>
                  </a:cubicBezTo>
                  <a:lnTo>
                    <a:pt x="0" y="89809"/>
                  </a:lnTo>
                  <a:cubicBezTo>
                    <a:pt x="0" y="65990"/>
                    <a:pt x="9462" y="43147"/>
                    <a:pt x="26304" y="26304"/>
                  </a:cubicBezTo>
                  <a:cubicBezTo>
                    <a:pt x="43147" y="9462"/>
                    <a:pt x="65990" y="0"/>
                    <a:pt x="89809" y="0"/>
                  </a:cubicBezTo>
                  <a:close/>
                </a:path>
              </a:pathLst>
            </a:custGeom>
            <a:solidFill>
              <a:srgbClr val="D2FFE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76872" cy="2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229685" y="2007068"/>
            <a:ext cx="5590653" cy="62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LIMITATIONS: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3410" y="241598"/>
            <a:ext cx="16365932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Limitations &amp; Future Work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068945" y="5520055"/>
            <a:ext cx="2277001" cy="681985"/>
            <a:chOff x="0" y="0"/>
            <a:chExt cx="599704" cy="1796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9704" cy="179617"/>
            </a:xfrm>
            <a:custGeom>
              <a:avLst/>
              <a:gdLst/>
              <a:ahLst/>
              <a:cxnLst/>
              <a:rect l="l" t="t" r="r" b="b"/>
              <a:pathLst>
                <a:path w="599704" h="179617">
                  <a:moveTo>
                    <a:pt x="89809" y="0"/>
                  </a:moveTo>
                  <a:lnTo>
                    <a:pt x="509895" y="0"/>
                  </a:lnTo>
                  <a:cubicBezTo>
                    <a:pt x="533714" y="0"/>
                    <a:pt x="556557" y="9462"/>
                    <a:pt x="573400" y="26304"/>
                  </a:cubicBezTo>
                  <a:cubicBezTo>
                    <a:pt x="590242" y="43147"/>
                    <a:pt x="599704" y="65990"/>
                    <a:pt x="599704" y="89809"/>
                  </a:cubicBezTo>
                  <a:lnTo>
                    <a:pt x="599704" y="89809"/>
                  </a:lnTo>
                  <a:cubicBezTo>
                    <a:pt x="599704" y="113627"/>
                    <a:pt x="590242" y="136471"/>
                    <a:pt x="573400" y="153313"/>
                  </a:cubicBezTo>
                  <a:cubicBezTo>
                    <a:pt x="556557" y="170156"/>
                    <a:pt x="533714" y="179617"/>
                    <a:pt x="509895" y="179617"/>
                  </a:cubicBezTo>
                  <a:lnTo>
                    <a:pt x="89809" y="179617"/>
                  </a:lnTo>
                  <a:cubicBezTo>
                    <a:pt x="65990" y="179617"/>
                    <a:pt x="43147" y="170156"/>
                    <a:pt x="26304" y="153313"/>
                  </a:cubicBezTo>
                  <a:cubicBezTo>
                    <a:pt x="9462" y="136471"/>
                    <a:pt x="0" y="113627"/>
                    <a:pt x="0" y="89809"/>
                  </a:cubicBezTo>
                  <a:lnTo>
                    <a:pt x="0" y="89809"/>
                  </a:lnTo>
                  <a:cubicBezTo>
                    <a:pt x="0" y="65990"/>
                    <a:pt x="9462" y="43147"/>
                    <a:pt x="26304" y="26304"/>
                  </a:cubicBezTo>
                  <a:cubicBezTo>
                    <a:pt x="43147" y="9462"/>
                    <a:pt x="65990" y="0"/>
                    <a:pt x="89809" y="0"/>
                  </a:cubicBezTo>
                  <a:close/>
                </a:path>
              </a:pathLst>
            </a:custGeom>
            <a:solidFill>
              <a:srgbClr val="D2FFE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599704" cy="2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229685" y="5521022"/>
            <a:ext cx="6085558" cy="61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FUTURE WORK: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89093" y="2787165"/>
            <a:ext cx="21305902" cy="234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No tissue interaction/damping modeled</a:t>
            </a:r>
          </a:p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Fatigue, corrosion, extreme loads not analyzed</a:t>
            </a:r>
          </a:p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Simplified linear elastic model</a:t>
            </a:r>
          </a:p>
          <a:p>
            <a:pPr algn="l">
              <a:lnSpc>
                <a:spcPts val="4543"/>
              </a:lnSpc>
              <a:spcBef>
                <a:spcPct val="0"/>
              </a:spcBef>
            </a:pPr>
            <a:endParaRPr lang="en-US" sz="3549" spc="149">
              <a:solidFill>
                <a:srgbClr val="000000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689093" y="6287765"/>
            <a:ext cx="21305902" cy="29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Nonlinear &amp; fatigue analysis</a:t>
            </a:r>
          </a:p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Prototype fabrication (CNC / 3D printing)</a:t>
            </a:r>
          </a:p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In-vitro middle-ear testing</a:t>
            </a:r>
          </a:p>
          <a:p>
            <a:pPr marL="766317" lvl="1" indent="-383159" algn="l">
              <a:lnSpc>
                <a:spcPts val="4543"/>
              </a:lnSpc>
              <a:buAutoNum type="arabicPeriod"/>
            </a:pPr>
            <a:r>
              <a:rPr lang="en-US" sz="3549" spc="1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Animal/clinical validation with surgeons</a:t>
            </a:r>
          </a:p>
          <a:p>
            <a:pPr algn="l">
              <a:lnSpc>
                <a:spcPts val="4543"/>
              </a:lnSpc>
              <a:spcBef>
                <a:spcPct val="0"/>
              </a:spcBef>
            </a:pPr>
            <a:endParaRPr lang="en-US" sz="3549" spc="149">
              <a:solidFill>
                <a:srgbClr val="000000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2707" y="1589776"/>
            <a:ext cx="9699658" cy="3103890"/>
          </a:xfrm>
          <a:custGeom>
            <a:avLst/>
            <a:gdLst/>
            <a:ahLst/>
            <a:cxnLst/>
            <a:rect l="l" t="t" r="r" b="b"/>
            <a:pathLst>
              <a:path w="9699658" h="3103890">
                <a:moveTo>
                  <a:pt x="0" y="0"/>
                </a:moveTo>
                <a:lnTo>
                  <a:pt x="9699657" y="0"/>
                </a:lnTo>
                <a:lnTo>
                  <a:pt x="9699657" y="3103891"/>
                </a:lnTo>
                <a:lnTo>
                  <a:pt x="0" y="3103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 rot="-166726">
            <a:off x="4816097" y="2647944"/>
            <a:ext cx="9365337" cy="938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sz="5477" spc="21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10663243" y="3355180"/>
            <a:ext cx="2537821" cy="1172012"/>
          </a:xfrm>
          <a:custGeom>
            <a:avLst/>
            <a:gdLst/>
            <a:ahLst/>
            <a:cxnLst/>
            <a:rect l="l" t="t" r="r" b="b"/>
            <a:pathLst>
              <a:path w="2537821" h="1172012">
                <a:moveTo>
                  <a:pt x="0" y="0"/>
                </a:moveTo>
                <a:lnTo>
                  <a:pt x="2537821" y="0"/>
                </a:lnTo>
                <a:lnTo>
                  <a:pt x="2537821" y="1172011"/>
                </a:lnTo>
                <a:lnTo>
                  <a:pt x="0" y="1172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91967">
            <a:off x="4392492" y="950145"/>
            <a:ext cx="2241878" cy="2042147"/>
          </a:xfrm>
          <a:custGeom>
            <a:avLst/>
            <a:gdLst/>
            <a:ahLst/>
            <a:cxnLst/>
            <a:rect l="l" t="t" r="r" b="b"/>
            <a:pathLst>
              <a:path w="2241878" h="2042147">
                <a:moveTo>
                  <a:pt x="0" y="0"/>
                </a:moveTo>
                <a:lnTo>
                  <a:pt x="2241878" y="0"/>
                </a:lnTo>
                <a:lnTo>
                  <a:pt x="2241878" y="2042147"/>
                </a:lnTo>
                <a:lnTo>
                  <a:pt x="0" y="2042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706294" flipV="1">
            <a:off x="-465501" y="954485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8"/>
                </a:moveTo>
                <a:lnTo>
                  <a:pt x="3895386" y="4128058"/>
                </a:lnTo>
                <a:lnTo>
                  <a:pt x="3895386" y="0"/>
                </a:lnTo>
                <a:lnTo>
                  <a:pt x="0" y="0"/>
                </a:lnTo>
                <a:lnTo>
                  <a:pt x="0" y="41280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568932">
            <a:off x="15725241" y="2538573"/>
            <a:ext cx="1447775" cy="2075662"/>
          </a:xfrm>
          <a:custGeom>
            <a:avLst/>
            <a:gdLst/>
            <a:ahLst/>
            <a:cxnLst/>
            <a:rect l="l" t="t" r="r" b="b"/>
            <a:pathLst>
              <a:path w="1447775" h="2075662">
                <a:moveTo>
                  <a:pt x="0" y="0"/>
                </a:moveTo>
                <a:lnTo>
                  <a:pt x="1447774" y="0"/>
                </a:lnTo>
                <a:lnTo>
                  <a:pt x="1447774" y="2075662"/>
                </a:lnTo>
                <a:lnTo>
                  <a:pt x="0" y="2075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538197" y="0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62081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60214" y="5466305"/>
            <a:ext cx="3822958" cy="568735"/>
            <a:chOff x="0" y="0"/>
            <a:chExt cx="1006870" cy="1497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6870" cy="149790"/>
            </a:xfrm>
            <a:custGeom>
              <a:avLst/>
              <a:gdLst/>
              <a:ahLst/>
              <a:cxnLst/>
              <a:rect l="l" t="t" r="r" b="b"/>
              <a:pathLst>
                <a:path w="1006870" h="149790">
                  <a:moveTo>
                    <a:pt x="58728" y="0"/>
                  </a:moveTo>
                  <a:lnTo>
                    <a:pt x="948141" y="0"/>
                  </a:lnTo>
                  <a:cubicBezTo>
                    <a:pt x="980576" y="0"/>
                    <a:pt x="1006870" y="26294"/>
                    <a:pt x="1006870" y="58728"/>
                  </a:cubicBezTo>
                  <a:lnTo>
                    <a:pt x="1006870" y="91062"/>
                  </a:lnTo>
                  <a:cubicBezTo>
                    <a:pt x="1006870" y="106638"/>
                    <a:pt x="1000682" y="121575"/>
                    <a:pt x="989668" y="132589"/>
                  </a:cubicBezTo>
                  <a:cubicBezTo>
                    <a:pt x="978655" y="143603"/>
                    <a:pt x="963717" y="149790"/>
                    <a:pt x="948141" y="149790"/>
                  </a:cubicBezTo>
                  <a:lnTo>
                    <a:pt x="58728" y="149790"/>
                  </a:lnTo>
                  <a:cubicBezTo>
                    <a:pt x="43153" y="149790"/>
                    <a:pt x="28215" y="143603"/>
                    <a:pt x="17201" y="132589"/>
                  </a:cubicBezTo>
                  <a:cubicBezTo>
                    <a:pt x="6187" y="121575"/>
                    <a:pt x="0" y="106638"/>
                    <a:pt x="0" y="91062"/>
                  </a:cubicBezTo>
                  <a:lnTo>
                    <a:pt x="0" y="58728"/>
                  </a:lnTo>
                  <a:cubicBezTo>
                    <a:pt x="0" y="43153"/>
                    <a:pt x="6187" y="28215"/>
                    <a:pt x="17201" y="17201"/>
                  </a:cubicBezTo>
                  <a:cubicBezTo>
                    <a:pt x="28215" y="6187"/>
                    <a:pt x="43153" y="0"/>
                    <a:pt x="58728" y="0"/>
                  </a:cubicBezTo>
                  <a:close/>
                </a:path>
              </a:pathLst>
            </a:custGeom>
            <a:solidFill>
              <a:srgbClr val="817C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06870" cy="178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71756" y="5504180"/>
            <a:ext cx="41998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9524" y="6402379"/>
            <a:ext cx="3618802" cy="659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31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Designed &amp; simulated TORP using CAD + FEA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180528" y="5466305"/>
            <a:ext cx="3822958" cy="568735"/>
            <a:chOff x="0" y="0"/>
            <a:chExt cx="1006870" cy="1497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6870" cy="149790"/>
            </a:xfrm>
            <a:custGeom>
              <a:avLst/>
              <a:gdLst/>
              <a:ahLst/>
              <a:cxnLst/>
              <a:rect l="l" t="t" r="r" b="b"/>
              <a:pathLst>
                <a:path w="1006870" h="149790">
                  <a:moveTo>
                    <a:pt x="58728" y="0"/>
                  </a:moveTo>
                  <a:lnTo>
                    <a:pt x="948141" y="0"/>
                  </a:lnTo>
                  <a:cubicBezTo>
                    <a:pt x="980576" y="0"/>
                    <a:pt x="1006870" y="26294"/>
                    <a:pt x="1006870" y="58728"/>
                  </a:cubicBezTo>
                  <a:lnTo>
                    <a:pt x="1006870" y="91062"/>
                  </a:lnTo>
                  <a:cubicBezTo>
                    <a:pt x="1006870" y="106638"/>
                    <a:pt x="1000682" y="121575"/>
                    <a:pt x="989668" y="132589"/>
                  </a:cubicBezTo>
                  <a:cubicBezTo>
                    <a:pt x="978655" y="143603"/>
                    <a:pt x="963717" y="149790"/>
                    <a:pt x="948141" y="149790"/>
                  </a:cubicBezTo>
                  <a:lnTo>
                    <a:pt x="58728" y="149790"/>
                  </a:lnTo>
                  <a:cubicBezTo>
                    <a:pt x="43153" y="149790"/>
                    <a:pt x="28215" y="143603"/>
                    <a:pt x="17201" y="132589"/>
                  </a:cubicBezTo>
                  <a:cubicBezTo>
                    <a:pt x="6187" y="121575"/>
                    <a:pt x="0" y="106638"/>
                    <a:pt x="0" y="91062"/>
                  </a:cubicBezTo>
                  <a:lnTo>
                    <a:pt x="0" y="58728"/>
                  </a:lnTo>
                  <a:cubicBezTo>
                    <a:pt x="0" y="43153"/>
                    <a:pt x="6187" y="28215"/>
                    <a:pt x="17201" y="17201"/>
                  </a:cubicBezTo>
                  <a:cubicBezTo>
                    <a:pt x="28215" y="6187"/>
                    <a:pt x="43153" y="0"/>
                    <a:pt x="58728" y="0"/>
                  </a:cubicBezTo>
                  <a:close/>
                </a:path>
              </a:pathLst>
            </a:custGeom>
            <a:solidFill>
              <a:srgbClr val="FF9D3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006870" cy="178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886531" y="5504180"/>
            <a:ext cx="41998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671024" y="5466305"/>
            <a:ext cx="3822958" cy="568735"/>
            <a:chOff x="0" y="0"/>
            <a:chExt cx="1006870" cy="1497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6870" cy="149790"/>
            </a:xfrm>
            <a:custGeom>
              <a:avLst/>
              <a:gdLst/>
              <a:ahLst/>
              <a:cxnLst/>
              <a:rect l="l" t="t" r="r" b="b"/>
              <a:pathLst>
                <a:path w="1006870" h="149790">
                  <a:moveTo>
                    <a:pt x="58728" y="0"/>
                  </a:moveTo>
                  <a:lnTo>
                    <a:pt x="948141" y="0"/>
                  </a:lnTo>
                  <a:cubicBezTo>
                    <a:pt x="980576" y="0"/>
                    <a:pt x="1006870" y="26294"/>
                    <a:pt x="1006870" y="58728"/>
                  </a:cubicBezTo>
                  <a:lnTo>
                    <a:pt x="1006870" y="91062"/>
                  </a:lnTo>
                  <a:cubicBezTo>
                    <a:pt x="1006870" y="106638"/>
                    <a:pt x="1000682" y="121575"/>
                    <a:pt x="989668" y="132589"/>
                  </a:cubicBezTo>
                  <a:cubicBezTo>
                    <a:pt x="978655" y="143603"/>
                    <a:pt x="963717" y="149790"/>
                    <a:pt x="948141" y="149790"/>
                  </a:cubicBezTo>
                  <a:lnTo>
                    <a:pt x="58728" y="149790"/>
                  </a:lnTo>
                  <a:cubicBezTo>
                    <a:pt x="43153" y="149790"/>
                    <a:pt x="28215" y="143603"/>
                    <a:pt x="17201" y="132589"/>
                  </a:cubicBezTo>
                  <a:cubicBezTo>
                    <a:pt x="6187" y="121575"/>
                    <a:pt x="0" y="106638"/>
                    <a:pt x="0" y="91062"/>
                  </a:cubicBezTo>
                  <a:lnTo>
                    <a:pt x="0" y="58728"/>
                  </a:lnTo>
                  <a:cubicBezTo>
                    <a:pt x="0" y="43153"/>
                    <a:pt x="6187" y="28215"/>
                    <a:pt x="17201" y="17201"/>
                  </a:cubicBezTo>
                  <a:cubicBezTo>
                    <a:pt x="28215" y="6187"/>
                    <a:pt x="43153" y="0"/>
                    <a:pt x="58728" y="0"/>
                  </a:cubicBezTo>
                  <a:close/>
                </a:path>
              </a:pathLst>
            </a:custGeom>
            <a:solidFill>
              <a:srgbClr val="EF7B9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006870" cy="178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501306" y="5504180"/>
            <a:ext cx="41998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3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238208" y="5466272"/>
            <a:ext cx="3822958" cy="568735"/>
            <a:chOff x="0" y="0"/>
            <a:chExt cx="1006870" cy="1497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6870" cy="149790"/>
            </a:xfrm>
            <a:custGeom>
              <a:avLst/>
              <a:gdLst/>
              <a:ahLst/>
              <a:cxnLst/>
              <a:rect l="l" t="t" r="r" b="b"/>
              <a:pathLst>
                <a:path w="1006870" h="149790">
                  <a:moveTo>
                    <a:pt x="58728" y="0"/>
                  </a:moveTo>
                  <a:lnTo>
                    <a:pt x="948141" y="0"/>
                  </a:lnTo>
                  <a:cubicBezTo>
                    <a:pt x="980576" y="0"/>
                    <a:pt x="1006870" y="26294"/>
                    <a:pt x="1006870" y="58728"/>
                  </a:cubicBezTo>
                  <a:lnTo>
                    <a:pt x="1006870" y="91062"/>
                  </a:lnTo>
                  <a:cubicBezTo>
                    <a:pt x="1006870" y="106638"/>
                    <a:pt x="1000682" y="121575"/>
                    <a:pt x="989668" y="132589"/>
                  </a:cubicBezTo>
                  <a:cubicBezTo>
                    <a:pt x="978655" y="143603"/>
                    <a:pt x="963717" y="149790"/>
                    <a:pt x="948141" y="149790"/>
                  </a:cubicBezTo>
                  <a:lnTo>
                    <a:pt x="58728" y="149790"/>
                  </a:lnTo>
                  <a:cubicBezTo>
                    <a:pt x="43153" y="149790"/>
                    <a:pt x="28215" y="143603"/>
                    <a:pt x="17201" y="132589"/>
                  </a:cubicBezTo>
                  <a:cubicBezTo>
                    <a:pt x="6187" y="121575"/>
                    <a:pt x="0" y="106638"/>
                    <a:pt x="0" y="91062"/>
                  </a:cubicBezTo>
                  <a:lnTo>
                    <a:pt x="0" y="58728"/>
                  </a:lnTo>
                  <a:cubicBezTo>
                    <a:pt x="0" y="43153"/>
                    <a:pt x="6187" y="28215"/>
                    <a:pt x="17201" y="17201"/>
                  </a:cubicBezTo>
                  <a:cubicBezTo>
                    <a:pt x="28215" y="6187"/>
                    <a:pt x="43153" y="0"/>
                    <a:pt x="58728" y="0"/>
                  </a:cubicBezTo>
                  <a:close/>
                </a:path>
              </a:pathLst>
            </a:custGeom>
            <a:solidFill>
              <a:srgbClr val="82DDD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006870" cy="178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8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4078601" y="5504180"/>
            <a:ext cx="4199874" cy="5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5683" y="6364279"/>
            <a:ext cx="3618802" cy="228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9"/>
              </a:lnSpc>
            </a:pPr>
            <a:r>
              <a:rPr lang="en-US" sz="231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Results confirm:</a:t>
            </a:r>
          </a:p>
          <a:p>
            <a:pPr marL="499798" lvl="1" indent="-249899" algn="just">
              <a:lnSpc>
                <a:spcPts val="3009"/>
              </a:lnSpc>
              <a:buAutoNum type="arabicPeriod"/>
            </a:pPr>
            <a:r>
              <a:rPr lang="en-US" sz="231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Structurally safe (negligible stress/displacement)</a:t>
            </a:r>
          </a:p>
          <a:p>
            <a:pPr marL="499798" lvl="1" indent="-249899" algn="just">
              <a:lnSpc>
                <a:spcPts val="3009"/>
              </a:lnSpc>
              <a:buAutoNum type="arabicPeriod"/>
            </a:pPr>
            <a:r>
              <a:rPr lang="en-US" sz="231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Dynamically reliable (no resonance in the hearing band)</a:t>
            </a:r>
          </a:p>
          <a:p>
            <a:pPr algn="just">
              <a:lnSpc>
                <a:spcPts val="3009"/>
              </a:lnSpc>
            </a:pPr>
            <a:endParaRPr lang="en-US" sz="2314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91842" y="6402379"/>
            <a:ext cx="3618802" cy="659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31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Strong candidate for prototyping &amp; clinical validation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42364" y="6402379"/>
            <a:ext cx="3618802" cy="98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31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Internship provided valuable experience in biomedical design &amp;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919161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91967">
            <a:off x="4366081" y="1559751"/>
            <a:ext cx="1707111" cy="1555022"/>
          </a:xfrm>
          <a:custGeom>
            <a:avLst/>
            <a:gdLst/>
            <a:ahLst/>
            <a:cxnLst/>
            <a:rect l="l" t="t" r="r" b="b"/>
            <a:pathLst>
              <a:path w="1707111" h="1555022">
                <a:moveTo>
                  <a:pt x="0" y="0"/>
                </a:moveTo>
                <a:lnTo>
                  <a:pt x="1707110" y="0"/>
                </a:lnTo>
                <a:lnTo>
                  <a:pt x="1707110" y="1555023"/>
                </a:lnTo>
                <a:lnTo>
                  <a:pt x="0" y="155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82303" y="4220763"/>
            <a:ext cx="3634128" cy="4158041"/>
          </a:xfrm>
          <a:custGeom>
            <a:avLst/>
            <a:gdLst/>
            <a:ahLst/>
            <a:cxnLst/>
            <a:rect l="l" t="t" r="r" b="b"/>
            <a:pathLst>
              <a:path w="3634128" h="4158041">
                <a:moveTo>
                  <a:pt x="0" y="0"/>
                </a:moveTo>
                <a:lnTo>
                  <a:pt x="3634128" y="0"/>
                </a:lnTo>
                <a:lnTo>
                  <a:pt x="3634128" y="4158041"/>
                </a:lnTo>
                <a:lnTo>
                  <a:pt x="0" y="4158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104264" flipV="1">
            <a:off x="152632" y="3931750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9"/>
                </a:moveTo>
                <a:lnTo>
                  <a:pt x="3895387" y="4128059"/>
                </a:lnTo>
                <a:lnTo>
                  <a:pt x="3895387" y="0"/>
                </a:lnTo>
                <a:lnTo>
                  <a:pt x="0" y="0"/>
                </a:lnTo>
                <a:lnTo>
                  <a:pt x="0" y="41280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568932">
            <a:off x="12894609" y="960037"/>
            <a:ext cx="1480813" cy="2123030"/>
          </a:xfrm>
          <a:custGeom>
            <a:avLst/>
            <a:gdLst/>
            <a:ahLst/>
            <a:cxnLst/>
            <a:rect l="l" t="t" r="r" b="b"/>
            <a:pathLst>
              <a:path w="1480813" h="2123030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55707" y="2879051"/>
            <a:ext cx="8376587" cy="5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THANK</a:t>
            </a:r>
          </a:p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548</Words>
  <Application>Microsoft Office PowerPoint</Application>
  <PresentationFormat>Custom</PresentationFormat>
  <Paragraphs>125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Handy Casual</vt:lpstr>
      <vt:lpstr>Pompiere</vt:lpstr>
      <vt:lpstr>Handyman</vt:lpstr>
      <vt:lpstr>TAN Headline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Sandeep Roy</cp:lastModifiedBy>
  <cp:revision>3</cp:revision>
  <dcterms:created xsi:type="dcterms:W3CDTF">2006-08-16T00:00:00Z</dcterms:created>
  <dcterms:modified xsi:type="dcterms:W3CDTF">2025-09-06T04:27:13Z</dcterms:modified>
  <dc:identifier>DAGyHKIVaDQ</dc:identifier>
</cp:coreProperties>
</file>